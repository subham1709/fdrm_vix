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add1555-84ad-8eea-d4dd-6739a2fba95c}">
          <p14:sldIdLst>
            <p14:sldId id="256"/>
            <p14:sldId id="257"/>
            <p14:sldId id="258"/>
          </p14:sldIdLst>
        </p14:section>
        <p14:section name="Volatility and India VIX" id="{8472e2e9-cf24-c62a-5444-ccfc5a61db38}">
          <p14:sldIdLst>
            <p14:sldId id="259"/>
            <p14:sldId id="260"/>
            <p14:sldId id="261"/>
            <p14:sldId id="262"/>
          </p14:sldIdLst>
        </p14:section>
        <p14:section name="4 June 2024" id="{3e146622-bd92-540a-761d-69f0e55f3834}">
          <p14:sldIdLst>
            <p14:sldId id="263"/>
            <p14:sldId id="264"/>
          </p14:sldIdLst>
        </p14:section>
        <p14:section name="Strategy and backtest" id="{bf717c3a-2df6-830f-7b0f-8af732999006}">
          <p14:sldIdLst>
            <p14:sldId id="265"/>
            <p14:sldId id="266"/>
            <p14:sldId id="267"/>
            <p14:sldId id="268"/>
            <p14:sldId id="269"/>
            <p14:sldId id="270"/>
          </p14:sldIdLst>
        </p14:section>
        <p14:section name="Limitations and conclusion" id="{60db660d-c704-3710-6963-314bb6d72e52}">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Average VRP by VIX regime (vol points)</a:t>
            </a:r>
          </a:p>
        </c:rich>
      </c:tx>
      <c:layout/>
      <c:overlay val="0"/>
    </c:title>
    <c:autoTitleDeleted val="0"/>
    <c:plotArea>
      <c:layout/>
      <c:barChart>
        <c:barDir val="col"/>
        <c:grouping val="clustered"/>
        <c:varyColors val="0"/>
        <c:ser>
          <c:idx val="0"/>
          <c:order val="0"/>
          <c:tx>
            <c:strRef>
              <c:f>Sheet1!$B$1</c:f>
              <c:strCache>
                <c:ptCount val="1"/>
                <c:pt idx="0">
                  <c:v>Value</c:v>
                </c:pt>
              </c:strCache>
            </c:strRef>
          </c:tx>
          <c:spPr>
            <a:solidFill>
              <a:srgbClr val="2A78D6"/>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8A94A6"/>
              </a:solidFill>
              <a:effectLst/>
            </c:spPr>
          </c:dPt>
          <c:dPt>
            <c:idx val="2"/>
            <c:invertIfNegative val="0"/>
            <c:bubble3D val="0"/>
            <c:spPr>
              <a:solidFill>
                <a:srgbClr val="E8772E"/>
              </a:solidFill>
              <a:effectLst/>
            </c:spPr>
          </c:dPt>
          <c:cat>
            <c:multiLvlStrRef>
              <c:f>Sheet1!$A$2:$A$4</c:f>
              <c:multiLvlStrCache>
                <c:ptCount val="3"/>
                <c:lvl>
                  <c:pt idx="0">
                    <c:v>Low</c:v>
                  </c:pt>
                  <c:pt idx="1">
                    <c:v>Normal</c:v>
                  </c:pt>
                  <c:pt idx="2">
                    <c:v>High</c:v>
                  </c:pt>
                </c:lvl>
              </c:multiLvlStrCache>
            </c:multiLvlStrRef>
          </c:cat>
          <c:val>
            <c:numRef>
              <c:f>Sheet1!$B$2:$B$4</c:f>
              <c:numCache>
                <c:formatCode>General</c:formatCode>
                <c:ptCount val="3"/>
                <c:pt idx="0">
                  <c:v>2.1</c:v>
                </c:pt>
                <c:pt idx="1">
                  <c:v>1.4</c:v>
                </c:pt>
                <c:pt idx="2">
                  <c:v>4</c:v>
                </c:pt>
              </c:numCache>
            </c:numRef>
          </c:val>
        </c:ser>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6"/>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4.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Annualised Nifty volatility by VIX regime (%)</a:t>
            </a:r>
          </a:p>
        </c:rich>
      </c:tx>
      <c:layout/>
      <c:overlay val="0"/>
    </c:title>
    <c:autoTitleDeleted val="0"/>
    <c:plotArea>
      <c:layout/>
      <c:barChart>
        <c:barDir val="col"/>
        <c:grouping val="clustered"/>
        <c:varyColors val="0"/>
        <c:ser>
          <c:idx val="0"/>
          <c:order val="0"/>
          <c:tx>
            <c:strRef>
              <c:f>Sheet1!$B$1</c:f>
              <c:strCache>
                <c:ptCount val="1"/>
                <c:pt idx="0">
                  <c:v>Value</c:v>
                </c:pt>
              </c:strCache>
            </c:strRef>
          </c:tx>
          <c:spPr>
            <a:solidFill>
              <a:srgbClr val="2A78D6"/>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8A94A6"/>
              </a:solidFill>
              <a:effectLst/>
            </c:spPr>
          </c:dPt>
          <c:dPt>
            <c:idx val="2"/>
            <c:invertIfNegative val="0"/>
            <c:bubble3D val="0"/>
            <c:spPr>
              <a:solidFill>
                <a:srgbClr val="E8772E"/>
              </a:solidFill>
              <a:effectLst/>
            </c:spPr>
          </c:dPt>
          <c:cat>
            <c:multiLvlStrRef>
              <c:f>Sheet1!$A$2:$A$4</c:f>
              <c:multiLvlStrCache>
                <c:ptCount val="3"/>
                <c:lvl>
                  <c:pt idx="0">
                    <c:v>Low</c:v>
                  </c:pt>
                  <c:pt idx="1">
                    <c:v>Normal</c:v>
                  </c:pt>
                  <c:pt idx="2">
                    <c:v>High</c:v>
                  </c:pt>
                </c:lvl>
              </c:multiLvlStrCache>
            </c:multiLvlStrRef>
          </c:cat>
          <c:val>
            <c:numRef>
              <c:f>Sheet1!$B$2:$B$4</c:f>
              <c:numCache>
                <c:formatCode>General</c:formatCode>
                <c:ptCount val="3"/>
                <c:pt idx="0">
                  <c:v>9</c:v>
                </c:pt>
                <c:pt idx="1">
                  <c:v>13.2</c:v>
                </c:pt>
                <c:pt idx="2">
                  <c:v>30.1</c:v>
                </c:pt>
              </c:numCache>
            </c:numRef>
          </c:val>
        </c:ser>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6"/>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3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Average Nifty return over the next 21 days (%)</a:t>
            </a:r>
          </a:p>
        </c:rich>
      </c:tx>
      <c:layout/>
      <c:overlay val="0"/>
    </c:title>
    <c:autoTitleDeleted val="0"/>
    <c:plotArea>
      <c:layout/>
      <c:barChart>
        <c:barDir val="col"/>
        <c:grouping val="clustered"/>
        <c:varyColors val="0"/>
        <c:ser>
          <c:idx val="0"/>
          <c:order val="0"/>
          <c:tx>
            <c:strRef>
              <c:f>Sheet1!$B$1</c:f>
              <c:strCache>
                <c:ptCount val="1"/>
                <c:pt idx="0">
                  <c:v>Value</c:v>
                </c:pt>
              </c:strCache>
            </c:strRef>
          </c:tx>
          <c:spPr>
            <a:solidFill>
              <a:srgbClr val="2A78D6"/>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8A94A6"/>
              </a:solidFill>
              <a:effectLst/>
            </c:spPr>
          </c:dPt>
          <c:dPt>
            <c:idx val="2"/>
            <c:invertIfNegative val="0"/>
            <c:bubble3D val="0"/>
            <c:spPr>
              <a:solidFill>
                <a:srgbClr val="E8772E"/>
              </a:solidFill>
              <a:effectLst/>
            </c:spPr>
          </c:dPt>
          <c:cat>
            <c:multiLvlStrRef>
              <c:f>Sheet1!$A$2:$A$4</c:f>
              <c:multiLvlStrCache>
                <c:ptCount val="3"/>
                <c:lvl>
                  <c:pt idx="0">
                    <c:v>Low</c:v>
                  </c:pt>
                  <c:pt idx="1">
                    <c:v>Normal</c:v>
                  </c:pt>
                  <c:pt idx="2">
                    <c:v>High</c:v>
                  </c:pt>
                </c:lvl>
              </c:multiLvlStrCache>
            </c:multiLvlStrRef>
          </c:cat>
          <c:val>
            <c:numRef>
              <c:f>Sheet1!$B$2:$B$4</c:f>
              <c:numCache>
                <c:formatCode>General</c:formatCode>
                <c:ptCount val="3"/>
                <c:pt idx="0">
                  <c:v>1.1</c:v>
                </c:pt>
                <c:pt idx="1">
                  <c:v>-0.2</c:v>
                </c:pt>
                <c:pt idx="2">
                  <c:v>3.4</c:v>
                </c:pt>
              </c:numCache>
            </c:numRef>
          </c:val>
        </c:ser>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6"/>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4.2"/>
          <c:min val="-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Annual return, 2020–2026 (%)</a:t>
            </a:r>
          </a:p>
        </c:rich>
      </c:tx>
      <c:layout/>
      <c:overlay val="0"/>
    </c:title>
    <c:autoTitleDeleted val="0"/>
    <c:plotArea>
      <c:layout/>
      <c:barChart>
        <c:barDir val="bar"/>
        <c:grouping val="clustered"/>
        <c:varyColors val="0"/>
        <c:ser>
          <c:idx val="0"/>
          <c:order val="0"/>
          <c:tx>
            <c:strRef>
              <c:f>Sheet1!$B$1</c:f>
              <c:strCache>
                <c:ptCount val="1"/>
                <c:pt idx="0">
                  <c:v>Value</c:v>
                </c:pt>
              </c:strCache>
            </c:strRef>
          </c:tx>
          <c:spPr>
            <a:solidFill>
              <a:srgbClr val="1B2A41"/>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1B2A41"/>
              </a:solidFill>
              <a:effectLst/>
            </c:spPr>
          </c:dPt>
          <c:dPt>
            <c:idx val="1"/>
            <c:invertIfNegative val="0"/>
            <c:bubble3D val="0"/>
            <c:spPr>
              <a:solidFill>
                <a:srgbClr val="8A94A6"/>
              </a:solidFill>
              <a:effectLst/>
            </c:spPr>
          </c:dPt>
          <c:dPt>
            <c:idx val="2"/>
            <c:invertIfNegative val="0"/>
            <c:bubble3D val="0"/>
            <c:spPr>
              <a:solidFill>
                <a:srgbClr val="8A94A6"/>
              </a:solidFill>
              <a:effectLst/>
            </c:spPr>
          </c:dPt>
          <c:dPt>
            <c:idx val="3"/>
            <c:invertIfNegative val="0"/>
            <c:bubble3D val="0"/>
            <c:spPr>
              <a:solidFill>
                <a:srgbClr val="8A94A6"/>
              </a:solidFill>
              <a:effectLst/>
            </c:spPr>
          </c:dPt>
          <c:dPt>
            <c:idx val="4"/>
            <c:invertIfNegative val="0"/>
            <c:bubble3D val="0"/>
            <c:spPr>
              <a:solidFill>
                <a:srgbClr val="8A94A6"/>
              </a:solidFill>
              <a:effectLst/>
            </c:spPr>
          </c:dPt>
          <c:dPt>
            <c:idx val="5"/>
            <c:invertIfNegative val="0"/>
            <c:bubble3D val="0"/>
            <c:spPr>
              <a:solidFill>
                <a:srgbClr val="2A78D6"/>
              </a:solidFill>
              <a:effectLst/>
            </c:spPr>
          </c:dPt>
          <c:dPt>
            <c:idx val="6"/>
            <c:invertIfNegative val="0"/>
            <c:bubble3D val="0"/>
            <c:spPr>
              <a:solidFill>
                <a:srgbClr val="8A94A6"/>
              </a:solidFill>
              <a:effectLst/>
            </c:spPr>
          </c:dPt>
          <c:cat>
            <c:multiLvlStrRef>
              <c:f>Sheet1!$A$2:$A$8</c:f>
              <c:multiLvlStrCache>
                <c:ptCount val="7"/>
                <c:lvl>
                  <c:pt idx="0">
                    <c:v>Unhedged</c:v>
                  </c:pt>
                  <c:pt idx="1">
                    <c:v>Always 1M put</c:v>
                  </c:pt>
                  <c:pt idx="2">
                    <c:v>Always 1M put spread</c:v>
                  </c:pt>
                  <c:pt idx="3">
                    <c:v>Always 3M put</c:v>
                  </c:pt>
                  <c:pt idx="4">
                    <c:v>Timed 3M, hold</c:v>
                  </c:pt>
                  <c:pt idx="5">
                    <c:v>Timed 3M, proposed</c:v>
                  </c:pt>
                  <c:pt idx="6">
                    <c:v>Timed 3M, sell at 22</c:v>
                  </c:pt>
                </c:lvl>
              </c:multiLvlStrCache>
            </c:multiLvlStrRef>
          </c:cat>
          <c:val>
            <c:numRef>
              <c:f>Sheet1!$B$2:$B$8</c:f>
              <c:numCache>
                <c:formatCode>General</c:formatCode>
                <c:ptCount val="7"/>
                <c:pt idx="0">
                  <c:v>11.1</c:v>
                </c:pt>
                <c:pt idx="1">
                  <c:v>8.3</c:v>
                </c:pt>
                <c:pt idx="2">
                  <c:v>7.3</c:v>
                </c:pt>
                <c:pt idx="3">
                  <c:v>6.3</c:v>
                </c:pt>
                <c:pt idx="4">
                  <c:v>17.2</c:v>
                </c:pt>
                <c:pt idx="5">
                  <c:v>13.9</c:v>
                </c:pt>
                <c:pt idx="6">
                  <c:v>11</c:v>
                </c:pt>
              </c:numCache>
            </c:numRef>
          </c:val>
        </c:ser>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6"/>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Maximum drawdown, 2020–2026 (% fall)</a:t>
            </a:r>
          </a:p>
        </c:rich>
      </c:tx>
      <c:layout/>
      <c:overlay val="0"/>
    </c:title>
    <c:autoTitleDeleted val="0"/>
    <c:plotArea>
      <c:layout/>
      <c:barChart>
        <c:barDir val="bar"/>
        <c:grouping val="clustered"/>
        <c:varyColors val="0"/>
        <c:ser>
          <c:idx val="0"/>
          <c:order val="0"/>
          <c:tx>
            <c:strRef>
              <c:f>Sheet1!$B$1</c:f>
              <c:strCache>
                <c:ptCount val="1"/>
                <c:pt idx="0">
                  <c:v>Value</c:v>
                </c:pt>
              </c:strCache>
            </c:strRef>
          </c:tx>
          <c:spPr>
            <a:solidFill>
              <a:srgbClr val="1B2A41"/>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dPt>
            <c:idx val="0"/>
            <c:invertIfNegative val="0"/>
            <c:bubble3D val="0"/>
            <c:spPr>
              <a:solidFill>
                <a:srgbClr val="1B2A41"/>
              </a:solidFill>
              <a:effectLst/>
            </c:spPr>
          </c:dPt>
          <c:dPt>
            <c:idx val="1"/>
            <c:invertIfNegative val="0"/>
            <c:bubble3D val="0"/>
            <c:spPr>
              <a:solidFill>
                <a:srgbClr val="8A94A6"/>
              </a:solidFill>
              <a:effectLst/>
            </c:spPr>
          </c:dPt>
          <c:dPt>
            <c:idx val="2"/>
            <c:invertIfNegative val="0"/>
            <c:bubble3D val="0"/>
            <c:spPr>
              <a:solidFill>
                <a:srgbClr val="8A94A6"/>
              </a:solidFill>
              <a:effectLst/>
            </c:spPr>
          </c:dPt>
          <c:dPt>
            <c:idx val="3"/>
            <c:invertIfNegative val="0"/>
            <c:bubble3D val="0"/>
            <c:spPr>
              <a:solidFill>
                <a:srgbClr val="8A94A6"/>
              </a:solidFill>
              <a:effectLst/>
            </c:spPr>
          </c:dPt>
          <c:dPt>
            <c:idx val="4"/>
            <c:invertIfNegative val="0"/>
            <c:bubble3D val="0"/>
            <c:spPr>
              <a:solidFill>
                <a:srgbClr val="8A94A6"/>
              </a:solidFill>
              <a:effectLst/>
            </c:spPr>
          </c:dPt>
          <c:dPt>
            <c:idx val="5"/>
            <c:invertIfNegative val="0"/>
            <c:bubble3D val="0"/>
            <c:spPr>
              <a:solidFill>
                <a:srgbClr val="2A78D6"/>
              </a:solidFill>
              <a:effectLst/>
            </c:spPr>
          </c:dPt>
          <c:dPt>
            <c:idx val="6"/>
            <c:invertIfNegative val="0"/>
            <c:bubble3D val="0"/>
            <c:spPr>
              <a:solidFill>
                <a:srgbClr val="8A94A6"/>
              </a:solidFill>
              <a:effectLst/>
            </c:spPr>
          </c:dPt>
          <c:cat>
            <c:multiLvlStrRef>
              <c:f>Sheet1!$A$2:$A$8</c:f>
              <c:multiLvlStrCache>
                <c:ptCount val="7"/>
                <c:lvl>
                  <c:pt idx="0">
                    <c:v>Unhedged</c:v>
                  </c:pt>
                  <c:pt idx="1">
                    <c:v>Always 1M put</c:v>
                  </c:pt>
                  <c:pt idx="2">
                    <c:v>Always 1M put spread</c:v>
                  </c:pt>
                  <c:pt idx="3">
                    <c:v>Always 3M put</c:v>
                  </c:pt>
                  <c:pt idx="4">
                    <c:v>Timed 3M, hold</c:v>
                  </c:pt>
                  <c:pt idx="5">
                    <c:v>Timed 3M, proposed</c:v>
                  </c:pt>
                  <c:pt idx="6">
                    <c:v>Timed 3M, sell at 22</c:v>
                  </c:pt>
                </c:lvl>
              </c:multiLvlStrCache>
            </c:multiLvlStrRef>
          </c:cat>
          <c:val>
            <c:numRef>
              <c:f>Sheet1!$B$2:$B$8</c:f>
              <c:numCache>
                <c:formatCode>General</c:formatCode>
                <c:ptCount val="7"/>
                <c:pt idx="0">
                  <c:v>38.4</c:v>
                </c:pt>
                <c:pt idx="1">
                  <c:v>19.6</c:v>
                </c:pt>
                <c:pt idx="2">
                  <c:v>30.2</c:v>
                </c:pt>
                <c:pt idx="3">
                  <c:v>17.9</c:v>
                </c:pt>
                <c:pt idx="4">
                  <c:v>17.2</c:v>
                </c:pt>
                <c:pt idx="5">
                  <c:v>22</c:v>
                </c:pt>
                <c:pt idx="6">
                  <c:v>35.9</c:v>
                </c:pt>
              </c:numCache>
            </c:numRef>
          </c:val>
        </c:ser>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6"/>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A41"/>
                </a:solidFill>
                <a:latin typeface="+mn-lt"/>
              </a:defRPr>
            </a:pPr>
            <a:r>
              <a:rPr sz="1400" b="0" i="0" u="none" strike="noStrike">
                <a:solidFill>
                  <a:srgbClr val="1B2A41"/>
                </a:solidFill>
                <a:latin typeface="+mn-lt"/>
              </a:rPr>
              <a:t>Net option P&amp;L by VIX regime at purchase (% of portfolio a year)</a:t>
            </a:r>
          </a:p>
        </c:rich>
      </c:tx>
      <c:layout/>
      <c:overlay val="0"/>
    </c:title>
    <c:autoTitleDeleted val="0"/>
    <c:plotArea>
      <c:layout/>
      <c:barChart>
        <c:barDir val="col"/>
        <c:grouping val="clustered"/>
        <c:varyColors val="0"/>
        <c:ser>
          <c:idx val="0"/>
          <c:order val="0"/>
          <c:tx>
            <c:strRef>
              <c:f>Sheet1!$B$1</c:f>
              <c:strCache>
                <c:ptCount val="1"/>
                <c:pt idx="0">
                  <c:v>Always 1M put</c:v>
                </c:pt>
              </c:strCache>
            </c:strRef>
          </c:tx>
          <c:spPr>
            <a:solidFill>
              <a:srgbClr val="E8772E"/>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cat>
            <c:multiLvlStrRef>
              <c:f>Sheet1!$A$2:$A$4</c:f>
              <c:multiLvlStrCache>
                <c:ptCount val="3"/>
                <c:lvl>
                  <c:pt idx="0">
                    <c:v>Bought in Low VIX</c:v>
                  </c:pt>
                  <c:pt idx="1">
                    <c:v>Bought in Normal VIX</c:v>
                  </c:pt>
                  <c:pt idx="2">
                    <c:v>Bought in High VIX</c:v>
                  </c:pt>
                </c:lvl>
              </c:multiLvlStrCache>
            </c:multiLvlStrRef>
          </c:cat>
          <c:val>
            <c:numRef>
              <c:f>Sheet1!$B$2:$B$4</c:f>
              <c:numCache>
                <c:formatCode>General</c:formatCode>
                <c:ptCount val="3"/>
                <c:pt idx="0">
                  <c:v>-0.7</c:v>
                </c:pt>
                <c:pt idx="1">
                  <c:v>-1.7</c:v>
                </c:pt>
                <c:pt idx="2">
                  <c:v>-0.6</c:v>
                </c:pt>
              </c:numCache>
            </c:numRef>
          </c:val>
        </c:ser>
        <c:ser>
          <c:idx val="1"/>
          <c:order val="1"/>
          <c:tx>
            <c:strRef>
              <c:f>Sheet1!$C$1</c:f>
              <c:strCache>
                <c:ptCount val="1"/>
                <c:pt idx="0">
                  <c:v>Always 1M put spread</c:v>
                </c:pt>
              </c:strCache>
            </c:strRef>
          </c:tx>
          <c:spPr>
            <a:solidFill>
              <a:srgbClr val="EDA100"/>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cat>
            <c:multiLvlStrRef>
              <c:f>Sheet1!$A$2:$A$4</c:f>
              <c:multiLvlStrCache>
                <c:ptCount val="3"/>
                <c:lvl>
                  <c:pt idx="0">
                    <c:v>Bought in Low VIX</c:v>
                  </c:pt>
                  <c:pt idx="1">
                    <c:v>Bought in Normal VIX</c:v>
                  </c:pt>
                  <c:pt idx="2">
                    <c:v>Bought in High VIX</c:v>
                  </c:pt>
                </c:lvl>
              </c:multiLvlStrCache>
            </c:multiLvlStrRef>
          </c:cat>
          <c:val>
            <c:numRef>
              <c:f>Sheet1!$C$2:$C$4</c:f>
              <c:numCache>
                <c:formatCode>General</c:formatCode>
                <c:ptCount val="3"/>
                <c:pt idx="0">
                  <c:v>-0.7</c:v>
                </c:pt>
                <c:pt idx="1">
                  <c:v>-1.6</c:v>
                </c:pt>
                <c:pt idx="2">
                  <c:v>-1.4</c:v>
                </c:pt>
              </c:numCache>
            </c:numRef>
          </c:val>
        </c:ser>
        <c:ser>
          <c:idx val="2"/>
          <c:order val="2"/>
          <c:tx>
            <c:strRef>
              <c:f>Sheet1!$D$1</c:f>
              <c:strCache>
                <c:ptCount val="1"/>
                <c:pt idx="0">
                  <c:v>Always 3M put</c:v>
                </c:pt>
              </c:strCache>
            </c:strRef>
          </c:tx>
          <c:spPr>
            <a:solidFill>
              <a:srgbClr val="E87BA4"/>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cat>
            <c:multiLvlStrRef>
              <c:f>Sheet1!$A$2:$A$4</c:f>
              <c:multiLvlStrCache>
                <c:ptCount val="3"/>
                <c:lvl>
                  <c:pt idx="0">
                    <c:v>Bought in Low VIX</c:v>
                  </c:pt>
                  <c:pt idx="1">
                    <c:v>Bought in Normal VIX</c:v>
                  </c:pt>
                  <c:pt idx="2">
                    <c:v>Bought in High VIX</c:v>
                  </c:pt>
                </c:lvl>
              </c:multiLvlStrCache>
            </c:multiLvlStrRef>
          </c:cat>
          <c:val>
            <c:numRef>
              <c:f>Sheet1!$D$2:$D$4</c:f>
              <c:numCache>
                <c:formatCode>General</c:formatCode>
                <c:ptCount val="3"/>
                <c:pt idx="0">
                  <c:v>-0.9</c:v>
                </c:pt>
                <c:pt idx="1">
                  <c:v>-1.2</c:v>
                </c:pt>
                <c:pt idx="2">
                  <c:v>-2.7</c:v>
                </c:pt>
              </c:numCache>
            </c:numRef>
          </c:val>
        </c:ser>
        <c:ser>
          <c:idx val="3"/>
          <c:order val="3"/>
          <c:tx>
            <c:strRef>
              <c:f>Sheet1!$E$1</c:f>
              <c:strCache>
                <c:ptCount val="1"/>
                <c:pt idx="0">
                  <c:v>Proposed (buys only in Low)</c:v>
                </c:pt>
              </c:strCache>
            </c:strRef>
          </c:tx>
          <c:spPr>
            <a:solidFill>
              <a:srgbClr val="2A78D6"/>
            </a:solidFill>
            <a:effectLst/>
          </c:spPr>
          <c:invertIfNegative val="0"/>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cat>
            <c:multiLvlStrRef>
              <c:f>Sheet1!$A$2:$A$4</c:f>
              <c:multiLvlStrCache>
                <c:ptCount val="3"/>
                <c:lvl>
                  <c:pt idx="0">
                    <c:v>Bought in Low VIX</c:v>
                  </c:pt>
                  <c:pt idx="1">
                    <c:v>Bought in Normal VIX</c:v>
                  </c:pt>
                  <c:pt idx="2">
                    <c:v>Bought in High VIX</c:v>
                  </c:pt>
                </c:lvl>
              </c:multiLvlStrCache>
            </c:multiLvlStrRef>
          </c:cat>
          <c:val>
            <c:numRef>
              <c:f>Sheet1!$E$2:$E$4</c:f>
              <c:numCache>
                <c:formatCode>General</c:formatCode>
                <c:ptCount val="3"/>
                <c:pt idx="0">
                  <c:v>2.2</c:v>
                </c:pt>
                <c:pt idx="1">
                  <c:v/>
                </c:pt>
                <c:pt idx="2">
                  <c:v/>
                </c:pt>
              </c:numCache>
            </c:numRef>
          </c:val>
        </c:ser>
        <c:dLbls>
          <c:numFmt formatCode="0.0" sourceLinked="0"/>
          <c:txPr>
            <a:bodyPr/>
            <a:lstStyle/>
            <a:p>
              <a:pPr>
                <a:defRPr b="0" i="0" strike="noStrike" sz="1200" u="none">
                  <a:solidFill>
                    <a:srgbClr val="1B2A4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6"/>
            </a:solidFill>
            <a:prstDash val="solid"/>
            <a:round/>
          </a:ln>
        </c:spPr>
        <c:txPr>
          <a:bodyPr/>
          <a:lstStyle/>
          <a:p>
            <a:pPr>
              <a:defRPr sz="12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3"/>
          <c:min val="-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A4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three syllabus topics: implied versus realised volatility and the volatility risk premium, how India VIX is built and used as a sentiment gauge, and how VIX regimes relate to Nifty returns. It then looks at option premiums around the 4 June 2024 election result and proposes and backtests a protection strategy for a long-term Nifty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volatility risk premium is the starting point: options usually cost more than the volatility that follows. VIX regimes separate risk sharply. The election shows how premiums behave around a scheduled shock. The last number is the backtest headline, which depends heavily on the 2020 crash, as later slides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index levels are actual daily closes from Yahoo Finance mirrors, spot-checked against NSE. Old option-chain prices were not reachable, so premiums are priced with Black-Scholes using India VIX as the volatility, with a put skew and a bid-ask haircut. The results therefore show how options would have been priced at VIX-consistent volatility, not actual traded prices. The regime cut-offs sit near the 30th and 80th percentiles of VIX.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 line is India VIX, the orange line is the volatility Nifty actually delivered over the following month. The lower panel is the difference. It is positive on 78 percent of days. The red periods are when realised volatility exceeded what was priced: early 2020, early 2022, May 2024, March 2025 and early 2026. A forecast regression gives realised vol = 1.05 + 0.81 x VIX, so VIX is informative but biased upward.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NSE adopted the CBOE methodology in 2008. F is the forward implied by put-call parity, K0 the first strike at or below F, Q(K) the option mid-price and T the time to expiry. Because each option is weighted by one over K squared, out-of-the-money puts carry a lot of weight. The analysis script reproduces the formula on a Black-Scholes chain: a flat 15 percent smile gives exactly 15.0, while adding put skew gives 16.1. So VIX measures both expected volatility and the price of crash insurance.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Shading shows the regime: blue below 13, grey 13 to 20, orange above 20. The leverage effect is strong: a 1 percent fall in Nifty comes with about a 2.7 percent rise in VIX. Regimes cluster, which is what makes a regime-based hedge workable. And VIX moves ahead of scheduled events, as the election shows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Volatility triples from the low to the high regime. Mean returns do not differ significantly on the same day. Forward returns overlap, so t-statistics use Newey-West errors. Low-VIX periods had positive but modest forward returns, normal-VIX periods were flat, and high-VIX periods were followed by strong rebounds. With six years of data these return differences are imprecise; the volatility differences are robust.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typical pattern for a scheduled event. The 30-day ATM straddle, modelled from VIX, more than doubled during the run-up even though Nifty did not move. Exit polls predicted a large majority and premiums fell. The result was a surprise and the modelled 27 June 22,500 put went from 217 to 903 points in a day. One day later most of the premium was gone even though Nifty was still below its pre-result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all the extra variance in the pre-election VIX belongs to one day, the implied event move is the square root of (VIX before squared times 30 minus normal VIX squared times 29) divided by 365. That gives 5.8 percent from the 31 May VIX and 4.4 percent from the 3 June VIX, against an actual 5.9 percent. Unlike the unscheduled shocks of 2024 and 2025, which hit when VIX was near 14, the election arrived with VIX already high. Across the 20 largest one-day VIX jumps, VIX rose 28 percent on average, Nifty fell 3.2 percent and the straddle rose 1.3 percent of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is mechanical and can be run from a daily VIX feed. In the backtest, the put bought on 2 January 2020 at VIX 11.5 cost 93 points. Half was sold on 28 February at VIX 23 for 546 points, the rest on 31 March at VIX 64 for 3,050 points. The put bought on 1 April 2024 cost 195 points; half was sold for 177 during the pre-election run-up and the rest for 95 after the vol crush, a small loss because Nifty closed above the strike even on result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thick blue line is the proposal, black is unhedged Nifty. All returns exclude dividends. Most of the gap opened in March 2020, when the January put paid out and the proceeds were reinvested near the bottom. After that the lines move almost in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Always-on hedges did cut drawdowns, but at 3 to 5 percent of the portfolio a year they gave up more return than they saved. 'Timed, hold' looks best because it held the whole January 2020 put through the crash; that depends on one event, as the robustness slide shows. The proposal sells half early to lock in gains, which costs some upside in a crash but helps in short spikes. Sharpe ratios at a 6.5 percent risk-free rate: unhedged 0.25, proposed 0.48.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option's whole life, premium paid less money received, is attributed to the VIX regime on the day it was bought. Every always-on hedge lost money in every regime, and most in the normal and high regimes where premiums are rich. The proposal only buys in the low regime, and those purchases returned 2.2 percent of the portfolio a year net. The right-hand panel shows the same idea day by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timed hedge is insurance against one kind of event: a sudden shock from a calm market. It gives nothing in a slow decline or when VIX has already risen before the drop. Always-on puts protect more often, but over this period their cost exceeded what they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monetisation rule also matters. With 3-month puts, holding to expiry returned 17.2 percent, a trailing rule 16.5, the hybrid 13.9, a 22/30 ladder 11.9 and selling everything at 22 only 11.0. Selling early wins in short scheduled spikes; holding wins in a crash that keeps going. The hybrid is a compromise because nobody knows in advance which kind of spike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skew and spread sensitivities bound the pricing assumption but do not remove it. A longer India VIX history, back to 2008, would add the global financial crisis and the 2011 and 2015 to 2016 drawdowns and would be the first extension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Summing up: options are usually overpriced, most of all after a shock. VIX regimes tell you about risk, not return. Scheduled events like the election follow a build-up, spike and crush pattern. The practical recommendation for a long-term Nifty investor is to buy 3-month out-of-the-money puts only when VIX is below 13, and monetise them when VIX spikes.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4415"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794760"/>
            <a:ext cx="11094415" cy="14630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FDRM  ·  Nifty options and India VIX</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0972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1094415" cy="1737360"/>
          </a:xfrm>
          <a:prstGeom prst="rect">
            <a:avLst/>
          </a:prstGeom>
          <a:noFill/>
          <a:ln/>
        </p:spPr>
        <p:txBody>
          <a:bodyPr wrap="square" rtlCol="0" anchor="b"/>
          <a:lstStyle/>
          <a:p>
            <a:pPr algn="l" indent="0" marL="0">
              <a:buNone/>
            </a:pPr>
            <a:r>
              <a:rPr lang="en-US" sz="4400" b="1" dirty="0">
                <a:solidFill>
                  <a:schemeClr val="bg1"/>
                </a:solidFill>
              </a:rPr>
              <a:t>Nifty Options, India VIX and a VIX-Timed Hedge</a:t>
            </a:r>
            <a:endParaRPr lang="en-US" sz="4400" dirty="0"/>
          </a:p>
        </p:txBody>
      </p:sp>
      <p:sp>
        <p:nvSpPr>
          <p:cNvPr id="3" name="Text 0"/>
          <p:cNvSpPr/>
          <p:nvPr>
            <p:ph idx="101" type="body" hasCustomPrompt="1"/>
          </p:nvPr>
        </p:nvSpPr>
        <p:spPr>
          <a:xfrm>
            <a:off x="548640" y="3794760"/>
            <a:ext cx="11094415" cy="1463040"/>
          </a:xfrm>
          <a:prstGeom prst="rect">
            <a:avLst/>
          </a:prstGeom>
          <a:noFill/>
          <a:ln/>
        </p:spPr>
        <p:txBody>
          <a:bodyPr wrap="square" rtlCol="0" anchor="t"/>
          <a:lstStyle/>
          <a:p>
            <a:pPr indent="0" marL="0">
              <a:buNone/>
            </a:pPr>
            <a:r>
              <a:rPr lang="en-US" sz="2000" dirty="0">
                <a:solidFill>
                  <a:schemeClr val="bg2"/>
                </a:solidFill>
              </a:rPr>
              <a:t>Volatility dynamics, the 4 June 2024 election, and a backtest of protection bought in calm markets and sold into fear</a:t>
            </a:r>
            <a:endParaRPr lang="en-US" sz="2000" dirty="0"/>
          </a:p>
          <a:p>
            <a:pPr indent="0" marL="0">
              <a:buNone/>
            </a:pPr>
            <a:r>
              <a:rPr lang="en-US" sz="2000" dirty="0">
                <a:solidFill>
                  <a:schemeClr val="bg2"/>
                </a:solidFill>
              </a:rPr>
              <a:t>FDRM course project  ·  Group 8, IIT Jodhpur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Four numbers that sum up the study</a:t>
            </a:r>
            <a:endParaRPr lang="en-US" sz="3400" dirty="0"/>
          </a:p>
        </p:txBody>
      </p:sp>
      <p:sp>
        <p:nvSpPr>
          <p:cNvPr id="3" name="stat 2.2 pts"/>
          <p:cNvSpPr/>
          <p:nvPr/>
        </p:nvSpPr>
        <p:spPr>
          <a:xfrm>
            <a:off x="548640" y="1554480"/>
            <a:ext cx="2567864" cy="2651760"/>
          </a:xfrm>
          <a:prstGeom prst="roundRect">
            <a:avLst>
              <a:gd name="adj" fmla="val 2849"/>
            </a:avLst>
          </a:prstGeom>
          <a:solidFill>
            <a:schemeClr val="bg2"/>
          </a:solidFill>
          <a:ln/>
        </p:spPr>
      </p:sp>
      <p:sp>
        <p:nvSpPr>
          <p:cNvPr id="4" name="stat value 2.2 pts"/>
          <p:cNvSpPr txBox="1"/>
          <p:nvPr/>
        </p:nvSpPr>
        <p:spPr>
          <a:xfrm>
            <a:off x="777240" y="1719072"/>
            <a:ext cx="2110664" cy="822960"/>
          </a:xfrm>
          <a:prstGeom prst="rect">
            <a:avLst/>
          </a:prstGeom>
          <a:noFill/>
          <a:ln/>
        </p:spPr>
        <p:txBody>
          <a:bodyPr wrap="square" lIns="0" tIns="0" rIns="0" bIns="0" rtlCol="0" anchor="ctr"/>
          <a:lstStyle/>
          <a:p>
            <a:pPr indent="0" marL="0">
              <a:buNone/>
            </a:pPr>
            <a:r>
              <a:rPr lang="en-US" sz="2800" b="1" dirty="0">
                <a:solidFill>
                  <a:schemeClr val="tx2"/>
                </a:solidFill>
              </a:rPr>
              <a:t>2.2 pts</a:t>
            </a:r>
            <a:endParaRPr lang="en-US" sz="2800" dirty="0"/>
          </a:p>
        </p:txBody>
      </p:sp>
      <p:sp>
        <p:nvSpPr>
          <p:cNvPr id="5" name="stat label 2.2 pts"/>
          <p:cNvSpPr txBox="1"/>
          <p:nvPr/>
        </p:nvSpPr>
        <p:spPr>
          <a:xfrm>
            <a:off x="777240" y="2578608"/>
            <a:ext cx="2110664" cy="1536192"/>
          </a:xfrm>
          <a:prstGeom prst="rect">
            <a:avLst/>
          </a:prstGeom>
          <a:noFill/>
          <a:ln/>
        </p:spPr>
        <p:txBody>
          <a:bodyPr wrap="square" lIns="0" tIns="0" rIns="0" bIns="0" rtlCol="0" anchor="t"/>
          <a:lstStyle/>
          <a:p>
            <a:pPr indent="0" marL="0">
              <a:buNone/>
            </a:pPr>
            <a:r>
              <a:rPr lang="en-US" sz="1400" dirty="0">
                <a:solidFill>
                  <a:schemeClr val="tx1"/>
                </a:solidFill>
              </a:rPr>
              <a:t>Average amount by which India VIX exceeded the volatility that followed (VIX higher on 78% of days)</a:t>
            </a:r>
            <a:endParaRPr lang="en-US" sz="1400" dirty="0"/>
          </a:p>
        </p:txBody>
      </p:sp>
      <p:sp>
        <p:nvSpPr>
          <p:cNvPr id="6" name="stat 9% → 30%"/>
          <p:cNvSpPr/>
          <p:nvPr/>
        </p:nvSpPr>
        <p:spPr>
          <a:xfrm>
            <a:off x="3390824" y="1554480"/>
            <a:ext cx="2567864" cy="2651760"/>
          </a:xfrm>
          <a:prstGeom prst="roundRect">
            <a:avLst>
              <a:gd name="adj" fmla="val 2849"/>
            </a:avLst>
          </a:prstGeom>
          <a:solidFill>
            <a:schemeClr val="bg2"/>
          </a:solidFill>
          <a:ln/>
        </p:spPr>
      </p:sp>
      <p:sp>
        <p:nvSpPr>
          <p:cNvPr id="7" name="stat value 9% → 30%"/>
          <p:cNvSpPr txBox="1"/>
          <p:nvPr/>
        </p:nvSpPr>
        <p:spPr>
          <a:xfrm>
            <a:off x="3619424" y="1719072"/>
            <a:ext cx="2110664" cy="822960"/>
          </a:xfrm>
          <a:prstGeom prst="rect">
            <a:avLst/>
          </a:prstGeom>
          <a:noFill/>
          <a:ln/>
        </p:spPr>
        <p:txBody>
          <a:bodyPr wrap="square" lIns="0" tIns="0" rIns="0" bIns="0" rtlCol="0" anchor="ctr"/>
          <a:lstStyle/>
          <a:p>
            <a:pPr indent="0" marL="0">
              <a:buNone/>
            </a:pPr>
            <a:r>
              <a:rPr lang="en-US" sz="2800" b="1" dirty="0">
                <a:solidFill>
                  <a:schemeClr val="accent1"/>
                </a:solidFill>
              </a:rPr>
              <a:t>9% → 30%</a:t>
            </a:r>
            <a:endParaRPr lang="en-US" sz="2800" dirty="0"/>
          </a:p>
        </p:txBody>
      </p:sp>
      <p:sp>
        <p:nvSpPr>
          <p:cNvPr id="8" name="stat label 9% → 30%"/>
          <p:cNvSpPr txBox="1"/>
          <p:nvPr/>
        </p:nvSpPr>
        <p:spPr>
          <a:xfrm>
            <a:off x="3619424" y="2578608"/>
            <a:ext cx="2110664" cy="1536192"/>
          </a:xfrm>
          <a:prstGeom prst="rect">
            <a:avLst/>
          </a:prstGeom>
          <a:noFill/>
          <a:ln/>
        </p:spPr>
        <p:txBody>
          <a:bodyPr wrap="square" lIns="0" tIns="0" rIns="0" bIns="0" rtlCol="0" anchor="t"/>
          <a:lstStyle/>
          <a:p>
            <a:pPr indent="0" marL="0">
              <a:buNone/>
            </a:pPr>
            <a:r>
              <a:rPr lang="en-US" sz="1400" dirty="0">
                <a:solidFill>
                  <a:schemeClr val="tx1"/>
                </a:solidFill>
              </a:rPr>
              <a:t>Nifty's annualised volatility when VIX is below 13 vs above 20</a:t>
            </a:r>
            <a:endParaRPr lang="en-US" sz="1400" dirty="0"/>
          </a:p>
        </p:txBody>
      </p:sp>
      <p:sp>
        <p:nvSpPr>
          <p:cNvPr id="9" name="stat 4.2×"/>
          <p:cNvSpPr/>
          <p:nvPr/>
        </p:nvSpPr>
        <p:spPr>
          <a:xfrm>
            <a:off x="6233008" y="1554480"/>
            <a:ext cx="2567864" cy="2651760"/>
          </a:xfrm>
          <a:prstGeom prst="roundRect">
            <a:avLst>
              <a:gd name="adj" fmla="val 2849"/>
            </a:avLst>
          </a:prstGeom>
          <a:solidFill>
            <a:schemeClr val="bg2"/>
          </a:solidFill>
          <a:ln/>
        </p:spPr>
      </p:sp>
      <p:sp>
        <p:nvSpPr>
          <p:cNvPr id="10" name="stat value 4.2×"/>
          <p:cNvSpPr txBox="1"/>
          <p:nvPr/>
        </p:nvSpPr>
        <p:spPr>
          <a:xfrm>
            <a:off x="6461608" y="1719072"/>
            <a:ext cx="2110664" cy="822960"/>
          </a:xfrm>
          <a:prstGeom prst="rect">
            <a:avLst/>
          </a:prstGeom>
          <a:noFill/>
          <a:ln/>
        </p:spPr>
        <p:txBody>
          <a:bodyPr wrap="square" lIns="0" tIns="0" rIns="0" bIns="0" rtlCol="0" anchor="ctr"/>
          <a:lstStyle/>
          <a:p>
            <a:pPr indent="0" marL="0">
              <a:buNone/>
            </a:pPr>
            <a:r>
              <a:rPr lang="en-US" sz="2800" b="1" dirty="0">
                <a:solidFill>
                  <a:schemeClr val="accent1"/>
                </a:solidFill>
              </a:rPr>
              <a:t>4.2×</a:t>
            </a:r>
            <a:endParaRPr lang="en-US" sz="2800" dirty="0"/>
          </a:p>
        </p:txBody>
      </p:sp>
      <p:sp>
        <p:nvSpPr>
          <p:cNvPr id="11" name="stat label 4.2×"/>
          <p:cNvSpPr txBox="1"/>
          <p:nvPr/>
        </p:nvSpPr>
        <p:spPr>
          <a:xfrm>
            <a:off x="6461608" y="2578608"/>
            <a:ext cx="2110664" cy="1536192"/>
          </a:xfrm>
          <a:prstGeom prst="rect">
            <a:avLst/>
          </a:prstGeom>
          <a:noFill/>
          <a:ln/>
        </p:spPr>
        <p:txBody>
          <a:bodyPr wrap="square" lIns="0" tIns="0" rIns="0" bIns="0" rtlCol="0" anchor="t"/>
          <a:lstStyle/>
          <a:p>
            <a:pPr indent="0" marL="0">
              <a:buNone/>
            </a:pPr>
            <a:r>
              <a:rPr lang="en-US" sz="1400" dirty="0">
                <a:solidFill>
                  <a:schemeClr val="tx1"/>
                </a:solidFill>
              </a:rPr>
              <a:t>Jump in a June 22,500 Nifty put on 4 June 2024, election result day</a:t>
            </a:r>
            <a:endParaRPr lang="en-US" sz="1400" dirty="0"/>
          </a:p>
        </p:txBody>
      </p:sp>
      <p:sp>
        <p:nvSpPr>
          <p:cNvPr id="12" name="stat −22%"/>
          <p:cNvSpPr/>
          <p:nvPr/>
        </p:nvSpPr>
        <p:spPr>
          <a:xfrm>
            <a:off x="9075191" y="1554480"/>
            <a:ext cx="2567864" cy="2651760"/>
          </a:xfrm>
          <a:prstGeom prst="roundRect">
            <a:avLst>
              <a:gd name="adj" fmla="val 2849"/>
            </a:avLst>
          </a:prstGeom>
          <a:solidFill>
            <a:schemeClr val="bg2"/>
          </a:solidFill>
          <a:ln/>
        </p:spPr>
      </p:sp>
      <p:sp>
        <p:nvSpPr>
          <p:cNvPr id="13" name="stat value −22%"/>
          <p:cNvSpPr txBox="1"/>
          <p:nvPr/>
        </p:nvSpPr>
        <p:spPr>
          <a:xfrm>
            <a:off x="9303791" y="1719072"/>
            <a:ext cx="2110664" cy="822960"/>
          </a:xfrm>
          <a:prstGeom prst="rect">
            <a:avLst/>
          </a:prstGeom>
          <a:noFill/>
          <a:ln/>
        </p:spPr>
        <p:txBody>
          <a:bodyPr wrap="square" lIns="0" tIns="0" rIns="0" bIns="0" rtlCol="0" anchor="ctr"/>
          <a:lstStyle/>
          <a:p>
            <a:pPr indent="0" marL="0">
              <a:buNone/>
            </a:pPr>
            <a:r>
              <a:rPr lang="en-US" sz="2800" b="1" dirty="0">
                <a:solidFill>
                  <a:schemeClr val="accent2"/>
                </a:solidFill>
              </a:rPr>
              <a:t>−22%</a:t>
            </a:r>
            <a:endParaRPr lang="en-US" sz="2800" dirty="0"/>
          </a:p>
        </p:txBody>
      </p:sp>
      <p:sp>
        <p:nvSpPr>
          <p:cNvPr id="14" name="stat label −22%"/>
          <p:cNvSpPr txBox="1"/>
          <p:nvPr/>
        </p:nvSpPr>
        <p:spPr>
          <a:xfrm>
            <a:off x="9303791" y="2578608"/>
            <a:ext cx="2110664" cy="1536192"/>
          </a:xfrm>
          <a:prstGeom prst="rect">
            <a:avLst/>
          </a:prstGeom>
          <a:noFill/>
          <a:ln/>
        </p:spPr>
        <p:txBody>
          <a:bodyPr wrap="square" lIns="0" tIns="0" rIns="0" bIns="0" rtlCol="0" anchor="t"/>
          <a:lstStyle/>
          <a:p>
            <a:pPr indent="0" marL="0">
              <a:buNone/>
            </a:pPr>
            <a:r>
              <a:rPr lang="en-US" sz="1400" dirty="0">
                <a:solidFill>
                  <a:schemeClr val="tx1"/>
                </a:solidFill>
              </a:rPr>
              <a:t>Worst fall with the VIX-timed hedge, vs −38% for unhedged Nifty (2020–2026)</a:t>
            </a:r>
            <a:endParaRPr lang="en-US" sz="1400" dirty="0"/>
          </a:p>
        </p:txBody>
      </p:sp>
      <p:sp>
        <p:nvSpPr>
          <p:cNvPr id="15" name="takeaway"/>
          <p:cNvSpPr txBox="1"/>
          <p:nvPr/>
        </p:nvSpPr>
        <p:spPr>
          <a:xfrm>
            <a:off x="548640" y="4572000"/>
            <a:ext cx="11094415" cy="1097280"/>
          </a:xfrm>
          <a:prstGeom prst="rect">
            <a:avLst/>
          </a:prstGeom>
          <a:noFill/>
          <a:ln/>
        </p:spPr>
        <p:txBody>
          <a:bodyPr wrap="square" lIns="0" tIns="0" rIns="0" bIns="0" rtlCol="0" anchor="ctr"/>
          <a:lstStyle/>
          <a:p>
            <a:pPr indent="0" marL="0">
              <a:buNone/>
            </a:pPr>
            <a:r>
              <a:rPr lang="en-US" sz="2000" i="1" dirty="0">
                <a:solidFill>
                  <a:schemeClr val="tx2"/>
                </a:solidFill>
              </a:rPr>
              <a:t>Fear is overpriced most of the time and most overpriced just after a shock. So buy protection when VIX is calm and sell it into the spike.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Real prices, modelled option premiums</a:t>
            </a:r>
            <a:endParaRPr lang="en-US" sz="3400" dirty="0"/>
          </a:p>
        </p:txBody>
      </p:sp>
      <p:sp>
        <p:nvSpPr>
          <p:cNvPr id="3" name="data card"/>
          <p:cNvSpPr/>
          <p:nvPr/>
        </p:nvSpPr>
        <p:spPr>
          <a:xfrm>
            <a:off x="548640" y="1371600"/>
            <a:ext cx="5410048" cy="3154680"/>
          </a:xfrm>
          <a:prstGeom prst="roundRect">
            <a:avLst>
              <a:gd name="adj" fmla="val 2319"/>
            </a:avLst>
          </a:prstGeom>
          <a:solidFill>
            <a:schemeClr val="bg2"/>
          </a:solidFill>
          <a:ln/>
        </p:spPr>
      </p:sp>
      <p:sp>
        <p:nvSpPr>
          <p:cNvPr id="4" name="Text 2"/>
          <p:cNvSpPr txBox="1"/>
          <p:nvPr/>
        </p:nvSpPr>
        <p:spPr>
          <a:xfrm>
            <a:off x="822960" y="1600200"/>
            <a:ext cx="4861408" cy="411480"/>
          </a:xfrm>
          <a:prstGeom prst="rect">
            <a:avLst/>
          </a:prstGeom>
          <a:noFill/>
          <a:ln/>
        </p:spPr>
        <p:txBody>
          <a:bodyPr wrap="square" lIns="0" tIns="0" rIns="0" bIns="0" rtlCol="0" anchor="ctr"/>
          <a:lstStyle/>
          <a:p>
            <a:pPr indent="0" marL="0">
              <a:buNone/>
            </a:pPr>
            <a:r>
              <a:rPr lang="en-US" sz="2000" b="1" dirty="0">
                <a:solidFill>
                  <a:schemeClr val="tx2"/>
                </a:solidFill>
              </a:rPr>
              <a:t>Real market data</a:t>
            </a:r>
            <a:endParaRPr lang="en-US" sz="2000" dirty="0"/>
          </a:p>
        </p:txBody>
      </p:sp>
      <p:sp>
        <p:nvSpPr>
          <p:cNvPr id="5" name="Text 3"/>
          <p:cNvSpPr txBox="1"/>
          <p:nvPr/>
        </p:nvSpPr>
        <p:spPr>
          <a:xfrm>
            <a:off x="822960" y="2148840"/>
            <a:ext cx="4861408"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Nifty 50 daily closes, Sep 2007 to Apr 2026</a:t>
            </a:r>
            <a:endParaRPr lang="en-US" sz="1400" dirty="0"/>
          </a:p>
          <a:p>
            <a:pPr marL="342900" indent="-342900">
              <a:spcAft>
                <a:spcPts val="800"/>
              </a:spcAft>
              <a:buSzPct val="100000"/>
              <a:buChar char="•"/>
            </a:pPr>
            <a:r>
              <a:rPr lang="en-US" sz="1400" dirty="0">
                <a:solidFill>
                  <a:schemeClr val="tx1"/>
                </a:solidFill>
              </a:rPr>
              <a:t>India VIX daily closes, Jan 2020 to Aug 2026</a:t>
            </a:r>
            <a:endParaRPr lang="en-US" sz="1400" dirty="0"/>
          </a:p>
          <a:p>
            <a:pPr marL="342900" indent="-342900">
              <a:spcAft>
                <a:spcPts val="800"/>
              </a:spcAft>
              <a:buSzPct val="100000"/>
              <a:buChar char="•"/>
            </a:pPr>
            <a:r>
              <a:rPr lang="en-US" sz="1400" dirty="0">
                <a:solidFill>
                  <a:schemeClr val="tx1"/>
                </a:solidFill>
              </a:rPr>
              <a:t>Common sample: 1,536 trading days, Jan 2020 to Apr 2026</a:t>
            </a:r>
            <a:endParaRPr lang="en-US" sz="1400" dirty="0"/>
          </a:p>
          <a:p>
            <a:pPr marL="342900" indent="-342900">
              <a:spcAft>
                <a:spcPts val="800"/>
              </a:spcAft>
              <a:buSzPct val="100000"/>
              <a:buChar char="•"/>
            </a:pPr>
            <a:r>
              <a:rPr lang="en-US" sz="1400" dirty="0">
                <a:solidFill>
                  <a:schemeClr val="tx1"/>
                </a:solidFill>
              </a:rPr>
              <a:t>Checked against NSE: on 4 Jun 2024 Nifty closed at 21,884.50 and VIX at 26.75</a:t>
            </a:r>
            <a:endParaRPr lang="en-US" sz="1400" dirty="0"/>
          </a:p>
        </p:txBody>
      </p:sp>
      <p:sp>
        <p:nvSpPr>
          <p:cNvPr id="6" name="model card"/>
          <p:cNvSpPr/>
          <p:nvPr/>
        </p:nvSpPr>
        <p:spPr>
          <a:xfrm>
            <a:off x="6233008" y="1371600"/>
            <a:ext cx="5410048" cy="3154680"/>
          </a:xfrm>
          <a:prstGeom prst="roundRect">
            <a:avLst>
              <a:gd name="adj" fmla="val 2319"/>
            </a:avLst>
          </a:prstGeom>
          <a:solidFill>
            <a:schemeClr val="bg2"/>
          </a:solidFill>
          <a:ln/>
        </p:spPr>
      </p:sp>
      <p:sp>
        <p:nvSpPr>
          <p:cNvPr id="7" name="Text 5"/>
          <p:cNvSpPr txBox="1"/>
          <p:nvPr/>
        </p:nvSpPr>
        <p:spPr>
          <a:xfrm>
            <a:off x="6507328" y="1600200"/>
            <a:ext cx="4861408" cy="411480"/>
          </a:xfrm>
          <a:prstGeom prst="rect">
            <a:avLst/>
          </a:prstGeom>
          <a:noFill/>
          <a:ln/>
        </p:spPr>
        <p:txBody>
          <a:bodyPr wrap="square" lIns="0" tIns="0" rIns="0" bIns="0" rtlCol="0" anchor="ctr"/>
          <a:lstStyle/>
          <a:p>
            <a:pPr indent="0" marL="0">
              <a:buNone/>
            </a:pPr>
            <a:r>
              <a:rPr lang="en-US" sz="2000" b="1" dirty="0">
                <a:solidFill>
                  <a:schemeClr val="tx2"/>
                </a:solidFill>
              </a:rPr>
              <a:t>Modelled option premiums</a:t>
            </a:r>
            <a:endParaRPr lang="en-US" sz="2000" dirty="0"/>
          </a:p>
        </p:txBody>
      </p:sp>
      <p:sp>
        <p:nvSpPr>
          <p:cNvPr id="8" name="Text 6"/>
          <p:cNvSpPr txBox="1"/>
          <p:nvPr/>
        </p:nvSpPr>
        <p:spPr>
          <a:xfrm>
            <a:off x="6507328" y="2148840"/>
            <a:ext cx="4861408"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Black-Scholes-Merton, risk-free 6.5%, dividend yield 1.3%</a:t>
            </a:r>
            <a:endParaRPr lang="en-US" sz="1400" dirty="0"/>
          </a:p>
          <a:p>
            <a:pPr marL="342900" indent="-342900">
              <a:spcAft>
                <a:spcPts val="800"/>
              </a:spcAft>
              <a:buSzPct val="100000"/>
              <a:buChar char="•"/>
            </a:pPr>
            <a:r>
              <a:rPr lang="en-US" sz="1400" dirty="0">
                <a:solidFill>
                  <a:schemeClr val="tx1"/>
                </a:solidFill>
              </a:rPr>
              <a:t>Implied vol = India VIX + 0.6 vol pt per 1% out of the money</a:t>
            </a:r>
            <a:endParaRPr lang="en-US" sz="1400" dirty="0"/>
          </a:p>
          <a:p>
            <a:pPr marL="342900" indent="-342900">
              <a:spcAft>
                <a:spcPts val="800"/>
              </a:spcAft>
              <a:buSzPct val="100000"/>
              <a:buChar char="•"/>
            </a:pPr>
            <a:r>
              <a:rPr lang="en-US" sz="1400" dirty="0">
                <a:solidFill>
                  <a:schemeClr val="tx1"/>
                </a:solidFill>
              </a:rPr>
              <a:t>Bought at +0.5 and sold at −0.5 vol pt to cover bid/ask</a:t>
            </a:r>
            <a:endParaRPr lang="en-US" sz="1400" dirty="0"/>
          </a:p>
          <a:p>
            <a:pPr marL="342900" indent="-342900">
              <a:spcAft>
                <a:spcPts val="800"/>
              </a:spcAft>
              <a:buSzPct val="100000"/>
              <a:buChar char="•"/>
            </a:pPr>
            <a:r>
              <a:rPr lang="en-US" sz="1400" dirty="0">
                <a:solidFill>
                  <a:schemeClr val="tx1"/>
                </a:solidFill>
              </a:rPr>
              <a:t>Historical NSE option chains were not available</a:t>
            </a:r>
            <a:endParaRPr lang="en-US" sz="1400" dirty="0"/>
          </a:p>
        </p:txBody>
      </p:sp>
      <p:sp>
        <p:nvSpPr>
          <p:cNvPr id="9" name="Text 7"/>
          <p:cNvSpPr txBox="1"/>
          <p:nvPr/>
        </p:nvSpPr>
        <p:spPr>
          <a:xfrm>
            <a:off x="548640" y="4754880"/>
            <a:ext cx="11094415" cy="365760"/>
          </a:xfrm>
          <a:prstGeom prst="rect">
            <a:avLst/>
          </a:prstGeom>
          <a:noFill/>
          <a:ln/>
        </p:spPr>
        <p:txBody>
          <a:bodyPr wrap="square" lIns="0" tIns="0" rIns="0" bIns="0" rtlCol="0" anchor="ctr"/>
          <a:lstStyle/>
          <a:p>
            <a:pPr indent="0" marL="0">
              <a:buNone/>
            </a:pPr>
            <a:r>
              <a:rPr lang="en-US" sz="1600" b="1" dirty="0">
                <a:solidFill>
                  <a:schemeClr val="tx2"/>
                </a:solidFill>
              </a:rPr>
              <a:t>VIX regimes used throughout</a:t>
            </a:r>
            <a:endParaRPr lang="en-US" sz="1600" dirty="0"/>
          </a:p>
        </p:txBody>
      </p:sp>
      <p:sp>
        <p:nvSpPr>
          <p:cNvPr id="10" name="regime Low: VIX below 13"/>
          <p:cNvSpPr/>
          <p:nvPr/>
        </p:nvSpPr>
        <p:spPr>
          <a:xfrm>
            <a:off x="548640" y="5212080"/>
            <a:ext cx="3515258" cy="868680"/>
          </a:xfrm>
          <a:prstGeom prst="roundRect">
            <a:avLst>
              <a:gd name="adj" fmla="val 8421"/>
            </a:avLst>
          </a:prstGeom>
          <a:solidFill>
            <a:schemeClr val="accent2"/>
          </a:solidFill>
          <a:ln/>
        </p:spPr>
      </p:sp>
      <p:sp>
        <p:nvSpPr>
          <p:cNvPr id="11" name="Text 9"/>
          <p:cNvSpPr txBox="1"/>
          <p:nvPr/>
        </p:nvSpPr>
        <p:spPr>
          <a:xfrm>
            <a:off x="777240" y="5212080"/>
            <a:ext cx="3058058" cy="868680"/>
          </a:xfrm>
          <a:prstGeom prst="rect">
            <a:avLst/>
          </a:prstGeom>
          <a:noFill/>
          <a:ln/>
        </p:spPr>
        <p:txBody>
          <a:bodyPr wrap="square" lIns="0" tIns="0" rIns="0" bIns="0" rtlCol="0" anchor="ctr"/>
          <a:lstStyle/>
          <a:p>
            <a:pPr indent="0" marL="0">
              <a:buNone/>
            </a:pPr>
            <a:r>
              <a:rPr lang="en-US" sz="1800" b="1" dirty="0">
                <a:solidFill>
                  <a:schemeClr val="bg1"/>
                </a:solidFill>
              </a:rPr>
              <a:t>Low: VIX below 13</a:t>
            </a:r>
            <a:endParaRPr lang="en-US" sz="1800" dirty="0"/>
          </a:p>
          <a:p>
            <a:pPr indent="0" marL="0">
              <a:buNone/>
            </a:pPr>
            <a:r>
              <a:rPr lang="en-US" sz="1400" dirty="0">
                <a:solidFill>
                  <a:schemeClr val="bg1"/>
                </a:solidFill>
              </a:rPr>
              <a:t>27% of days</a:t>
            </a:r>
            <a:endParaRPr lang="en-US" sz="1800" dirty="0"/>
          </a:p>
        </p:txBody>
      </p:sp>
      <p:sp>
        <p:nvSpPr>
          <p:cNvPr id="12" name="regime Normal: 13 to 20"/>
          <p:cNvSpPr/>
          <p:nvPr/>
        </p:nvSpPr>
        <p:spPr>
          <a:xfrm>
            <a:off x="4338218" y="5212080"/>
            <a:ext cx="3515258" cy="868680"/>
          </a:xfrm>
          <a:prstGeom prst="roundRect">
            <a:avLst>
              <a:gd name="adj" fmla="val 8421"/>
            </a:avLst>
          </a:prstGeom>
          <a:solidFill>
            <a:schemeClr val="accent3"/>
          </a:solidFill>
          <a:ln/>
        </p:spPr>
      </p:sp>
      <p:sp>
        <p:nvSpPr>
          <p:cNvPr id="13" name="Text 11"/>
          <p:cNvSpPr txBox="1"/>
          <p:nvPr/>
        </p:nvSpPr>
        <p:spPr>
          <a:xfrm>
            <a:off x="4566818" y="5212080"/>
            <a:ext cx="3058058" cy="868680"/>
          </a:xfrm>
          <a:prstGeom prst="rect">
            <a:avLst/>
          </a:prstGeom>
          <a:noFill/>
          <a:ln/>
        </p:spPr>
        <p:txBody>
          <a:bodyPr wrap="square" lIns="0" tIns="0" rIns="0" bIns="0" rtlCol="0" anchor="ctr"/>
          <a:lstStyle/>
          <a:p>
            <a:pPr indent="0" marL="0">
              <a:buNone/>
            </a:pPr>
            <a:r>
              <a:rPr lang="en-US" sz="1800" b="1" dirty="0">
                <a:solidFill>
                  <a:schemeClr val="bg1"/>
                </a:solidFill>
              </a:rPr>
              <a:t>Normal: 13 to 20</a:t>
            </a:r>
            <a:endParaRPr lang="en-US" sz="1800" dirty="0"/>
          </a:p>
          <a:p>
            <a:pPr indent="0" marL="0">
              <a:buNone/>
            </a:pPr>
            <a:r>
              <a:rPr lang="en-US" sz="1400" dirty="0">
                <a:solidFill>
                  <a:schemeClr val="bg1"/>
                </a:solidFill>
              </a:rPr>
              <a:t>48% of days</a:t>
            </a:r>
            <a:endParaRPr lang="en-US" sz="1800" dirty="0"/>
          </a:p>
        </p:txBody>
      </p:sp>
      <p:sp>
        <p:nvSpPr>
          <p:cNvPr id="14" name="regime High: above 20"/>
          <p:cNvSpPr/>
          <p:nvPr/>
        </p:nvSpPr>
        <p:spPr>
          <a:xfrm>
            <a:off x="8127797" y="5212080"/>
            <a:ext cx="3515258" cy="868680"/>
          </a:xfrm>
          <a:prstGeom prst="roundRect">
            <a:avLst>
              <a:gd name="adj" fmla="val 8421"/>
            </a:avLst>
          </a:prstGeom>
          <a:solidFill>
            <a:schemeClr val="accent1"/>
          </a:solidFill>
          <a:ln/>
        </p:spPr>
      </p:sp>
      <p:sp>
        <p:nvSpPr>
          <p:cNvPr id="15" name="Text 13"/>
          <p:cNvSpPr txBox="1"/>
          <p:nvPr/>
        </p:nvSpPr>
        <p:spPr>
          <a:xfrm>
            <a:off x="8356397" y="5212080"/>
            <a:ext cx="3058058" cy="868680"/>
          </a:xfrm>
          <a:prstGeom prst="rect">
            <a:avLst/>
          </a:prstGeom>
          <a:noFill/>
          <a:ln/>
        </p:spPr>
        <p:txBody>
          <a:bodyPr wrap="square" lIns="0" tIns="0" rIns="0" bIns="0" rtlCol="0" anchor="ctr"/>
          <a:lstStyle/>
          <a:p>
            <a:pPr indent="0" marL="0">
              <a:buNone/>
            </a:pPr>
            <a:r>
              <a:rPr lang="en-US" sz="1800" b="1" dirty="0">
                <a:solidFill>
                  <a:schemeClr val="bg1"/>
                </a:solidFill>
              </a:rPr>
              <a:t>High: above 20</a:t>
            </a:r>
            <a:endParaRPr lang="en-US" sz="1800" dirty="0"/>
          </a:p>
          <a:p>
            <a:pPr indent="0" marL="0">
              <a:buNone/>
            </a:pPr>
            <a:r>
              <a:rPr lang="en-US" sz="1400" dirty="0">
                <a:solidFill>
                  <a:schemeClr val="bg1"/>
                </a:solidFill>
              </a:rPr>
              <a:t>25% of days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VIX usually overstates future volatility</a:t>
            </a:r>
            <a:endParaRPr lang="en-US" sz="3400" dirty="0"/>
          </a:p>
        </p:txBody>
      </p:sp>
      <p:pic>
        <p:nvPicPr>
          <p:cNvPr id="3" name="India VIX vs realised volatility over the next 21 days, and the gap between them" descr="India VIX vs realised volatility over the next 21 days, and the gap between them">    </p:cNvPr>
          <p:cNvPicPr>
            <a:picLocks noChangeAspect="1"/>
          </p:cNvPicPr>
          <p:nvPr/>
        </p:nvPicPr>
        <p:blipFill>
          <a:blip r:embed="rId1"/>
          <a:stretch>
            <a:fillRect/>
          </a:stretch>
        </p:blipFill>
        <p:spPr>
          <a:xfrm>
            <a:off x="548640" y="1325880"/>
            <a:ext cx="6675120" cy="4128651"/>
          </a:xfrm>
          <a:prstGeom prst="rect">
            <a:avLst/>
          </a:prstGeom>
        </p:spPr>
      </p:pic>
      <p:graphicFrame>
        <p:nvGraphicFramePr>
          <p:cNvPr id="4" name="Average VRP by VIX regime (vol points)" descr=""/>
          <p:cNvGraphicFramePr/>
          <p:nvPr/>
        </p:nvGraphicFramePr>
        <p:xfrm>
          <a:off x="7543800" y="1325880"/>
          <a:ext cx="4096512" cy="26517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7543800" y="4160520"/>
            <a:ext cx="4096512"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VRP = VIX minus realised vol over the next 21 days: +2.2 pts on average (t = 2.8)</a:t>
            </a:r>
            <a:endParaRPr lang="en-US" sz="1400" dirty="0"/>
          </a:p>
          <a:p>
            <a:pPr marL="342900" indent="-342900">
              <a:spcAft>
                <a:spcPts val="800"/>
              </a:spcAft>
              <a:buSzPct val="100000"/>
              <a:buChar char="•"/>
            </a:pPr>
            <a:r>
              <a:rPr lang="en-US" sz="1400" dirty="0">
                <a:solidFill>
                  <a:schemeClr val="tx1"/>
                </a:solidFill>
              </a:rPr>
              <a:t>Largest after shocks (4.0 pts): sell protection then, don't buy it</a:t>
            </a:r>
            <a:endParaRPr lang="en-US" sz="1400" dirty="0"/>
          </a:p>
          <a:p>
            <a:pPr marL="342900" indent="-342900">
              <a:spcAft>
                <a:spcPts val="800"/>
              </a:spcAft>
              <a:buSzPct val="100000"/>
              <a:buChar char="•"/>
            </a:pPr>
            <a:r>
              <a:rPr lang="en-US" sz="1400" dirty="0">
                <a:solidFill>
                  <a:schemeClr val="tx1"/>
                </a:solidFill>
              </a:rPr>
              <a:t>VIX tracks the past 21 days (corr 0.86) more than the next 21 (0.61)</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How India VIX is built</a:t>
            </a:r>
            <a:endParaRPr lang="en-US" sz="3400" dirty="0"/>
          </a:p>
        </p:txBody>
      </p:sp>
      <p:sp>
        <p:nvSpPr>
          <p:cNvPr id="3" name="step 1"/>
          <p:cNvSpPr/>
          <p:nvPr/>
        </p:nvSpPr>
        <p:spPr>
          <a:xfrm>
            <a:off x="548640" y="1371600"/>
            <a:ext cx="2567864" cy="2423160"/>
          </a:xfrm>
          <a:prstGeom prst="roundRect">
            <a:avLst>
              <a:gd name="adj" fmla="val 3019"/>
            </a:avLst>
          </a:prstGeom>
          <a:solidFill>
            <a:schemeClr val="bg2"/>
          </a:solidFill>
          <a:ln/>
        </p:spPr>
      </p:sp>
      <p:sp>
        <p:nvSpPr>
          <p:cNvPr id="4" name="marker 1"/>
          <p:cNvSpPr/>
          <p:nvPr/>
        </p:nvSpPr>
        <p:spPr>
          <a:xfrm>
            <a:off x="777240" y="1600200"/>
            <a:ext cx="502920" cy="502920"/>
          </a:xfrm>
          <a:prstGeom prst="ellipse">
            <a:avLst/>
          </a:prstGeom>
          <a:solidFill>
            <a:schemeClr val="tx2"/>
          </a:solidFill>
          <a:ln/>
        </p:spPr>
      </p:sp>
      <p:sp>
        <p:nvSpPr>
          <p:cNvPr id="5" name="Text 3"/>
          <p:cNvSpPr txBox="1"/>
          <p:nvPr/>
        </p:nvSpPr>
        <p:spPr>
          <a:xfrm>
            <a:off x="777240"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Near and next-month options"/>
          <p:cNvSpPr txBox="1"/>
          <p:nvPr/>
        </p:nvSpPr>
        <p:spPr>
          <a:xfrm>
            <a:off x="777240" y="2240280"/>
            <a:ext cx="2110664" cy="141732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Near and next-month options</a:t>
            </a:r>
            <a:endParaRPr lang="en-US" sz="1600" dirty="0"/>
          </a:p>
          <a:p>
            <a:pPr indent="0" marL="0">
              <a:buNone/>
            </a:pPr>
            <a:r>
              <a:rPr lang="en-US" sz="1400" dirty="0">
                <a:solidFill>
                  <a:schemeClr val="tx1"/>
                </a:solidFill>
              </a:rPr>
              <a:t>OTM puts below the forward, OTM calls above it, at mid-quotes</a:t>
            </a:r>
            <a:endParaRPr lang="en-US" sz="1600" dirty="0"/>
          </a:p>
        </p:txBody>
      </p:sp>
      <p:sp>
        <p:nvSpPr>
          <p:cNvPr id="7" name="step 2"/>
          <p:cNvSpPr/>
          <p:nvPr/>
        </p:nvSpPr>
        <p:spPr>
          <a:xfrm>
            <a:off x="3390824" y="1371600"/>
            <a:ext cx="2567864" cy="2423160"/>
          </a:xfrm>
          <a:prstGeom prst="roundRect">
            <a:avLst>
              <a:gd name="adj" fmla="val 3019"/>
            </a:avLst>
          </a:prstGeom>
          <a:solidFill>
            <a:schemeClr val="bg2"/>
          </a:solidFill>
          <a:ln/>
        </p:spPr>
      </p:sp>
      <p:sp>
        <p:nvSpPr>
          <p:cNvPr id="8" name="marker 2"/>
          <p:cNvSpPr/>
          <p:nvPr/>
        </p:nvSpPr>
        <p:spPr>
          <a:xfrm>
            <a:off x="3619424" y="1600200"/>
            <a:ext cx="502920" cy="502920"/>
          </a:xfrm>
          <a:prstGeom prst="ellipse">
            <a:avLst/>
          </a:prstGeom>
          <a:solidFill>
            <a:schemeClr val="tx2"/>
          </a:solidFill>
          <a:ln/>
        </p:spPr>
      </p:sp>
      <p:sp>
        <p:nvSpPr>
          <p:cNvPr id="9" name="Text 7"/>
          <p:cNvSpPr txBox="1"/>
          <p:nvPr/>
        </p:nvSpPr>
        <p:spPr>
          <a:xfrm>
            <a:off x="3619424"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Variance per expiry"/>
          <p:cNvSpPr txBox="1"/>
          <p:nvPr/>
        </p:nvSpPr>
        <p:spPr>
          <a:xfrm>
            <a:off x="3619424" y="2240280"/>
            <a:ext cx="2110664" cy="141732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Variance per expiry</a:t>
            </a:r>
            <a:endParaRPr lang="en-US" sz="1600" dirty="0"/>
          </a:p>
          <a:p>
            <a:pPr indent="0" marL="0">
              <a:buNone/>
            </a:pPr>
            <a:r>
              <a:rPr lang="en-US" sz="1400" dirty="0">
                <a:solidFill>
                  <a:schemeClr val="tx1"/>
                </a:solidFill>
              </a:rPr>
              <a:t>Weights each option by ΔK/K², so low strikes count most</a:t>
            </a:r>
            <a:endParaRPr lang="en-US" sz="1600" dirty="0"/>
          </a:p>
        </p:txBody>
      </p:sp>
      <p:sp>
        <p:nvSpPr>
          <p:cNvPr id="11" name="step 3"/>
          <p:cNvSpPr/>
          <p:nvPr/>
        </p:nvSpPr>
        <p:spPr>
          <a:xfrm>
            <a:off x="6233008" y="1371600"/>
            <a:ext cx="2567864" cy="2423160"/>
          </a:xfrm>
          <a:prstGeom prst="roundRect">
            <a:avLst>
              <a:gd name="adj" fmla="val 3019"/>
            </a:avLst>
          </a:prstGeom>
          <a:solidFill>
            <a:schemeClr val="bg2"/>
          </a:solidFill>
          <a:ln/>
        </p:spPr>
      </p:sp>
      <p:sp>
        <p:nvSpPr>
          <p:cNvPr id="12" name="marker 3"/>
          <p:cNvSpPr/>
          <p:nvPr/>
        </p:nvSpPr>
        <p:spPr>
          <a:xfrm>
            <a:off x="6461608" y="1600200"/>
            <a:ext cx="502920" cy="502920"/>
          </a:xfrm>
          <a:prstGeom prst="ellipse">
            <a:avLst/>
          </a:prstGeom>
          <a:solidFill>
            <a:schemeClr val="tx2"/>
          </a:solidFill>
          <a:ln/>
        </p:spPr>
      </p:sp>
      <p:sp>
        <p:nvSpPr>
          <p:cNvPr id="13" name="Text 11"/>
          <p:cNvSpPr txBox="1"/>
          <p:nvPr/>
        </p:nvSpPr>
        <p:spPr>
          <a:xfrm>
            <a:off x="6461608"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Interpolate to 30 days"/>
          <p:cNvSpPr txBox="1"/>
          <p:nvPr/>
        </p:nvSpPr>
        <p:spPr>
          <a:xfrm>
            <a:off x="6461608" y="2240280"/>
            <a:ext cx="2110664" cy="141732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Interpolate to 30 days</a:t>
            </a:r>
            <a:endParaRPr lang="en-US" sz="1600" dirty="0"/>
          </a:p>
          <a:p>
            <a:pPr indent="0" marL="0">
              <a:buNone/>
            </a:pPr>
            <a:r>
              <a:rPr lang="en-US" sz="1400" dirty="0">
                <a:solidFill>
                  <a:schemeClr val="tx1"/>
                </a:solidFill>
              </a:rPr>
              <a:t>Blend the two expiries to a constant 30-calendar-day horizon</a:t>
            </a:r>
            <a:endParaRPr lang="en-US" sz="1600" dirty="0"/>
          </a:p>
        </p:txBody>
      </p:sp>
      <p:sp>
        <p:nvSpPr>
          <p:cNvPr id="15" name="step 4"/>
          <p:cNvSpPr/>
          <p:nvPr/>
        </p:nvSpPr>
        <p:spPr>
          <a:xfrm>
            <a:off x="9075191" y="1371600"/>
            <a:ext cx="2567864" cy="2423160"/>
          </a:xfrm>
          <a:prstGeom prst="roundRect">
            <a:avLst>
              <a:gd name="adj" fmla="val 3019"/>
            </a:avLst>
          </a:prstGeom>
          <a:solidFill>
            <a:schemeClr val="bg2"/>
          </a:solidFill>
          <a:ln/>
        </p:spPr>
      </p:sp>
      <p:sp>
        <p:nvSpPr>
          <p:cNvPr id="16" name="marker 4"/>
          <p:cNvSpPr/>
          <p:nvPr/>
        </p:nvSpPr>
        <p:spPr>
          <a:xfrm>
            <a:off x="9303791" y="1600200"/>
            <a:ext cx="502920" cy="502920"/>
          </a:xfrm>
          <a:prstGeom prst="ellipse">
            <a:avLst/>
          </a:prstGeom>
          <a:solidFill>
            <a:schemeClr val="tx2"/>
          </a:solidFill>
          <a:ln/>
        </p:spPr>
      </p:sp>
      <p:sp>
        <p:nvSpPr>
          <p:cNvPr id="17" name="Text 15"/>
          <p:cNvSpPr txBox="1"/>
          <p:nvPr/>
        </p:nvSpPr>
        <p:spPr>
          <a:xfrm>
            <a:off x="9303791" y="1600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Scale to an index"/>
          <p:cNvSpPr txBox="1"/>
          <p:nvPr/>
        </p:nvSpPr>
        <p:spPr>
          <a:xfrm>
            <a:off x="9303791" y="2240280"/>
            <a:ext cx="2110664" cy="141732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Scale to an index</a:t>
            </a:r>
            <a:endParaRPr lang="en-US" sz="1600" dirty="0"/>
          </a:p>
          <a:p>
            <a:pPr indent="0" marL="0">
              <a:buNone/>
            </a:pPr>
            <a:r>
              <a:rPr lang="en-US" sz="1400" dirty="0">
                <a:solidFill>
                  <a:schemeClr val="tx1"/>
                </a:solidFill>
              </a:rPr>
              <a:t>India VIX = 100 × √(30-day variance), in annualised percent</a:t>
            </a:r>
            <a:endParaRPr lang="en-US" sz="1600" dirty="0"/>
          </a:p>
        </p:txBody>
      </p:sp>
      <p:sp>
        <p:nvSpPr>
          <p:cNvPr id="19" name="formula card"/>
          <p:cNvSpPr/>
          <p:nvPr/>
        </p:nvSpPr>
        <p:spPr>
          <a:xfrm>
            <a:off x="548640" y="4023360"/>
            <a:ext cx="11094415" cy="822960"/>
          </a:xfrm>
          <a:prstGeom prst="roundRect">
            <a:avLst>
              <a:gd name="adj" fmla="val 8889"/>
            </a:avLst>
          </a:prstGeom>
          <a:solidFill>
            <a:schemeClr val="bg2"/>
          </a:solidFill>
          <a:ln/>
        </p:spPr>
      </p:sp>
      <p:sp>
        <p:nvSpPr>
          <p:cNvPr id="20" name="formula"/>
          <p:cNvSpPr txBox="1"/>
          <p:nvPr/>
        </p:nvSpPr>
        <p:spPr>
          <a:xfrm>
            <a:off x="822960" y="4023360"/>
            <a:ext cx="10545775" cy="822960"/>
          </a:xfrm>
          <a:prstGeom prst="rect">
            <a:avLst/>
          </a:prstGeom>
          <a:noFill/>
          <a:ln/>
        </p:spPr>
        <p:txBody>
          <a:bodyPr wrap="square" lIns="0" tIns="0" rIns="0" bIns="0" rtlCol="0" anchor="ctr"/>
          <a:lstStyle/>
          <a:p>
            <a:pPr indent="0" marL="0">
              <a:buNone/>
            </a:pPr>
            <a:r>
              <a:rPr lang="en-US" sz="2200" dirty="0">
                <a:solidFill>
                  <a:schemeClr val="tx2"/>
                </a:solidFill>
              </a:rPr>
              <a:t>σ² = (2/T) · Σ (ΔKᵢ / Kᵢ²) · e^(RT) · Q(Kᵢ)  −  (1/T) · (F / K₀ − 1)²</a:t>
            </a:r>
            <a:endParaRPr lang="en-US" sz="2200" dirty="0"/>
          </a:p>
        </p:txBody>
      </p:sp>
      <p:sp>
        <p:nvSpPr>
          <p:cNvPr id="21" name="stat 15.0"/>
          <p:cNvSpPr/>
          <p:nvPr/>
        </p:nvSpPr>
        <p:spPr>
          <a:xfrm>
            <a:off x="548640" y="5074920"/>
            <a:ext cx="5410048" cy="1143000"/>
          </a:xfrm>
          <a:prstGeom prst="roundRect">
            <a:avLst>
              <a:gd name="adj" fmla="val 6400"/>
            </a:avLst>
          </a:prstGeom>
          <a:solidFill>
            <a:schemeClr val="bg2"/>
          </a:solidFill>
          <a:ln/>
        </p:spPr>
      </p:sp>
      <p:sp>
        <p:nvSpPr>
          <p:cNvPr id="22" name="stat value 15.0"/>
          <p:cNvSpPr txBox="1"/>
          <p:nvPr/>
        </p:nvSpPr>
        <p:spPr>
          <a:xfrm>
            <a:off x="777240" y="5239512"/>
            <a:ext cx="4952848" cy="731520"/>
          </a:xfrm>
          <a:prstGeom prst="rect">
            <a:avLst/>
          </a:prstGeom>
          <a:noFill/>
          <a:ln/>
        </p:spPr>
        <p:txBody>
          <a:bodyPr wrap="square" lIns="0" tIns="0" rIns="0" bIns="0" rtlCol="0" anchor="ctr"/>
          <a:lstStyle/>
          <a:p>
            <a:pPr indent="0" marL="0">
              <a:buNone/>
            </a:pPr>
            <a:r>
              <a:rPr lang="en-US" sz="3000" b="1" dirty="0">
                <a:solidFill>
                  <a:schemeClr val="tx2"/>
                </a:solidFill>
              </a:rPr>
              <a:t>15.0</a:t>
            </a:r>
            <a:endParaRPr lang="en-US" sz="3000" dirty="0"/>
          </a:p>
        </p:txBody>
      </p:sp>
      <p:sp>
        <p:nvSpPr>
          <p:cNvPr id="23" name="stat label 15.0"/>
          <p:cNvSpPr txBox="1"/>
          <p:nvPr/>
        </p:nvSpPr>
        <p:spPr>
          <a:xfrm>
            <a:off x="777240" y="6007608"/>
            <a:ext cx="4952848" cy="118872"/>
          </a:xfrm>
          <a:prstGeom prst="rect">
            <a:avLst/>
          </a:prstGeom>
          <a:noFill/>
          <a:ln/>
        </p:spPr>
        <p:txBody>
          <a:bodyPr wrap="square" lIns="0" tIns="0" rIns="0" bIns="0" rtlCol="0" anchor="t"/>
          <a:lstStyle/>
          <a:p>
            <a:pPr indent="0" marL="0">
              <a:buNone/>
            </a:pPr>
            <a:endParaRPr lang="en-US" sz="1400" dirty="0"/>
          </a:p>
        </p:txBody>
      </p:sp>
      <p:sp>
        <p:nvSpPr>
          <p:cNvPr id="24" name="Text 22"/>
          <p:cNvSpPr txBox="1"/>
          <p:nvPr/>
        </p:nvSpPr>
        <p:spPr>
          <a:xfrm>
            <a:off x="2011680" y="5074920"/>
            <a:ext cx="3718408" cy="1143000"/>
          </a:xfrm>
          <a:prstGeom prst="rect">
            <a:avLst/>
          </a:prstGeom>
          <a:noFill/>
          <a:ln/>
        </p:spPr>
        <p:txBody>
          <a:bodyPr wrap="square" lIns="0" tIns="0" rIns="0" bIns="0" rtlCol="0" anchor="ctr"/>
          <a:lstStyle/>
          <a:p>
            <a:pPr indent="0" marL="0">
              <a:buNone/>
            </a:pPr>
            <a:r>
              <a:rPr lang="en-US" sz="1400" dirty="0">
                <a:solidFill>
                  <a:schemeClr val="tx1"/>
                </a:solidFill>
              </a:rPr>
              <a:t>Formula on a synthetic chain with a flat 15% smile: it recovers the input exactly</a:t>
            </a:r>
            <a:endParaRPr lang="en-US" sz="1400" dirty="0"/>
          </a:p>
        </p:txBody>
      </p:sp>
      <p:sp>
        <p:nvSpPr>
          <p:cNvPr id="25" name="stat 16.1"/>
          <p:cNvSpPr/>
          <p:nvPr/>
        </p:nvSpPr>
        <p:spPr>
          <a:xfrm>
            <a:off x="6233008" y="5074920"/>
            <a:ext cx="5410048" cy="1143000"/>
          </a:xfrm>
          <a:prstGeom prst="roundRect">
            <a:avLst>
              <a:gd name="adj" fmla="val 6400"/>
            </a:avLst>
          </a:prstGeom>
          <a:solidFill>
            <a:schemeClr val="bg2"/>
          </a:solidFill>
          <a:ln/>
        </p:spPr>
      </p:sp>
      <p:sp>
        <p:nvSpPr>
          <p:cNvPr id="26" name="stat value 16.1"/>
          <p:cNvSpPr txBox="1"/>
          <p:nvPr/>
        </p:nvSpPr>
        <p:spPr>
          <a:xfrm>
            <a:off x="6461608" y="5239512"/>
            <a:ext cx="4952848" cy="731520"/>
          </a:xfrm>
          <a:prstGeom prst="rect">
            <a:avLst/>
          </a:prstGeom>
          <a:noFill/>
          <a:ln/>
        </p:spPr>
        <p:txBody>
          <a:bodyPr wrap="square" lIns="0" tIns="0" rIns="0" bIns="0" rtlCol="0" anchor="ctr"/>
          <a:lstStyle/>
          <a:p>
            <a:pPr indent="0" marL="0">
              <a:buNone/>
            </a:pPr>
            <a:r>
              <a:rPr lang="en-US" sz="3000" b="1" dirty="0">
                <a:solidFill>
                  <a:schemeClr val="accent1"/>
                </a:solidFill>
              </a:rPr>
              <a:t>16.1</a:t>
            </a:r>
            <a:endParaRPr lang="en-US" sz="3000" dirty="0"/>
          </a:p>
        </p:txBody>
      </p:sp>
      <p:sp>
        <p:nvSpPr>
          <p:cNvPr id="27" name="stat label 16.1"/>
          <p:cNvSpPr txBox="1"/>
          <p:nvPr/>
        </p:nvSpPr>
        <p:spPr>
          <a:xfrm>
            <a:off x="6461608" y="6007608"/>
            <a:ext cx="4952848" cy="118872"/>
          </a:xfrm>
          <a:prstGeom prst="rect">
            <a:avLst/>
          </a:prstGeom>
          <a:noFill/>
          <a:ln/>
        </p:spPr>
        <p:txBody>
          <a:bodyPr wrap="square" lIns="0" tIns="0" rIns="0" bIns="0" rtlCol="0" anchor="t"/>
          <a:lstStyle/>
          <a:p>
            <a:pPr indent="0" marL="0">
              <a:buNone/>
            </a:pPr>
            <a:endParaRPr lang="en-US" sz="1400" dirty="0"/>
          </a:p>
        </p:txBody>
      </p:sp>
      <p:sp>
        <p:nvSpPr>
          <p:cNvPr id="28" name="Text 26"/>
          <p:cNvSpPr txBox="1"/>
          <p:nvPr/>
        </p:nvSpPr>
        <p:spPr>
          <a:xfrm>
            <a:off x="7696048" y="5074920"/>
            <a:ext cx="3718408" cy="1143000"/>
          </a:xfrm>
          <a:prstGeom prst="rect">
            <a:avLst/>
          </a:prstGeom>
          <a:noFill/>
          <a:ln/>
        </p:spPr>
        <p:txBody>
          <a:bodyPr wrap="square" lIns="0" tIns="0" rIns="0" bIns="0" rtlCol="0" anchor="ctr"/>
          <a:lstStyle/>
          <a:p>
            <a:pPr indent="0" marL="0">
              <a:buNone/>
            </a:pPr>
            <a:r>
              <a:rPr lang="en-US" sz="1400" dirty="0">
                <a:solidFill>
                  <a:schemeClr val="tx1"/>
                </a:solidFill>
              </a:rPr>
              <a:t>Same 15% at-the-money vol with put skew: VIX also prices crash fear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India VIX as a fear gauge: three traits</a:t>
            </a:r>
            <a:endParaRPr lang="en-US" sz="3400" dirty="0"/>
          </a:p>
        </p:txBody>
      </p:sp>
      <p:pic>
        <p:nvPicPr>
          <p:cNvPr id="3" name="Nifty 50 and India VIX, 2020 to 2026, shaded by VIX regime" descr="Nifty 50 and India VIX, 2020 to 2026, shaded by VIX regime">    </p:cNvPr>
          <p:cNvPicPr>
            <a:picLocks noChangeAspect="1"/>
          </p:cNvPicPr>
          <p:nvPr/>
        </p:nvPicPr>
        <p:blipFill>
          <a:blip r:embed="rId1"/>
          <a:stretch>
            <a:fillRect/>
          </a:stretch>
        </p:blipFill>
        <p:spPr>
          <a:xfrm>
            <a:off x="548640" y="1325880"/>
            <a:ext cx="6675120" cy="4131548"/>
          </a:xfrm>
          <a:prstGeom prst="rect">
            <a:avLst/>
          </a:prstGeom>
        </p:spPr>
      </p:pic>
      <p:sp>
        <p:nvSpPr>
          <p:cNvPr id="4" name="marker 1"/>
          <p:cNvSpPr/>
          <p:nvPr/>
        </p:nvSpPr>
        <p:spPr>
          <a:xfrm>
            <a:off x="7543800" y="1417320"/>
            <a:ext cx="502920" cy="502920"/>
          </a:xfrm>
          <a:prstGeom prst="ellipse">
            <a:avLst/>
          </a:prstGeom>
          <a:solidFill>
            <a:schemeClr val="accent1"/>
          </a:solidFill>
          <a:ln/>
        </p:spPr>
      </p:sp>
      <p:sp>
        <p:nvSpPr>
          <p:cNvPr id="5" name="Text 2"/>
          <p:cNvSpPr txBox="1"/>
          <p:nvPr/>
        </p:nvSpPr>
        <p:spPr>
          <a:xfrm>
            <a:off x="7543800" y="14173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Rises when Nifty falls"/>
          <p:cNvSpPr txBox="1"/>
          <p:nvPr/>
        </p:nvSpPr>
        <p:spPr>
          <a:xfrm>
            <a:off x="8275320" y="1417320"/>
            <a:ext cx="3367735" cy="13716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Rises when Nifty falls</a:t>
            </a:r>
            <a:endParaRPr lang="en-US" sz="1600" dirty="0"/>
          </a:p>
          <a:p>
            <a:pPr indent="0" marL="0">
              <a:buNone/>
            </a:pPr>
            <a:r>
              <a:rPr lang="en-US" sz="1400" dirty="0">
                <a:solidFill>
                  <a:schemeClr val="tx1"/>
                </a:solidFill>
              </a:rPr>
              <a:t>+2.3% on an average down day, −1.9% on an up day (correlation −0.56)</a:t>
            </a:r>
            <a:endParaRPr lang="en-US" sz="1600" dirty="0"/>
          </a:p>
        </p:txBody>
      </p:sp>
      <p:sp>
        <p:nvSpPr>
          <p:cNvPr id="7" name="marker 2"/>
          <p:cNvSpPr/>
          <p:nvPr/>
        </p:nvSpPr>
        <p:spPr>
          <a:xfrm>
            <a:off x="7543800" y="3017520"/>
            <a:ext cx="502920" cy="502920"/>
          </a:xfrm>
          <a:prstGeom prst="ellipse">
            <a:avLst/>
          </a:prstGeom>
          <a:solidFill>
            <a:schemeClr val="tx2"/>
          </a:solidFill>
          <a:ln/>
        </p:spPr>
      </p:sp>
      <p:sp>
        <p:nvSpPr>
          <p:cNvPr id="8" name="Text 5"/>
          <p:cNvSpPr txBox="1"/>
          <p:nvPr/>
        </p:nvSpPr>
        <p:spPr>
          <a:xfrm>
            <a:off x="7543800" y="3017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Persists, then mean-reverts"/>
          <p:cNvSpPr txBox="1"/>
          <p:nvPr/>
        </p:nvSpPr>
        <p:spPr>
          <a:xfrm>
            <a:off x="8275320" y="3017520"/>
            <a:ext cx="3367735" cy="13716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Persists, then mean-reverts</a:t>
            </a:r>
            <a:endParaRPr lang="en-US" sz="1600" dirty="0"/>
          </a:p>
          <a:p>
            <a:pPr indent="0" marL="0">
              <a:buNone/>
            </a:pPr>
            <a:r>
              <a:rPr lang="en-US" sz="1400" dirty="0">
                <a:solidFill>
                  <a:schemeClr val="tx1"/>
                </a:solidFill>
              </a:rPr>
              <a:t>Regimes last weeks to months, but every spike returned to 12–16</a:t>
            </a:r>
            <a:endParaRPr lang="en-US" sz="1600" dirty="0"/>
          </a:p>
        </p:txBody>
      </p:sp>
      <p:sp>
        <p:nvSpPr>
          <p:cNvPr id="10" name="marker 3"/>
          <p:cNvSpPr/>
          <p:nvPr/>
        </p:nvSpPr>
        <p:spPr>
          <a:xfrm>
            <a:off x="7543800" y="4617720"/>
            <a:ext cx="502920" cy="502920"/>
          </a:xfrm>
          <a:prstGeom prst="ellipse">
            <a:avLst/>
          </a:prstGeom>
          <a:solidFill>
            <a:schemeClr val="accent2"/>
          </a:solidFill>
          <a:ln/>
        </p:spPr>
      </p:sp>
      <p:sp>
        <p:nvSpPr>
          <p:cNvPr id="11" name="Text 8"/>
          <p:cNvSpPr txBox="1"/>
          <p:nvPr/>
        </p:nvSpPr>
        <p:spPr>
          <a:xfrm>
            <a:off x="7543800" y="46177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Prices known events early"/>
          <p:cNvSpPr txBox="1"/>
          <p:nvPr/>
        </p:nvSpPr>
        <p:spPr>
          <a:xfrm>
            <a:off x="8275320" y="4617720"/>
            <a:ext cx="3367735" cy="13716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Prices known events early</a:t>
            </a:r>
            <a:endParaRPr lang="en-US" sz="1600" dirty="0"/>
          </a:p>
          <a:p>
            <a:pPr indent="0" marL="0">
              <a:buNone/>
            </a:pPr>
            <a:r>
              <a:rPr lang="en-US" sz="1400" dirty="0">
                <a:solidFill>
                  <a:schemeClr val="tx1"/>
                </a:solidFill>
              </a:rPr>
              <a:t>VIX climbed for six weeks before the 2024 result while Nifty was flat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VIX regimes separate risk, not return</a:t>
            </a:r>
            <a:endParaRPr lang="en-US" sz="3400" dirty="0"/>
          </a:p>
        </p:txBody>
      </p:sp>
      <p:graphicFrame>
        <p:nvGraphicFramePr>
          <p:cNvPr id="3" name="Annualised Nifty volatility by VIX regime (%)" descr=""/>
          <p:cNvGraphicFramePr/>
          <p:nvPr/>
        </p:nvGraphicFramePr>
        <p:xfrm>
          <a:off x="548640" y="1325880"/>
          <a:ext cx="5410048" cy="34290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Average Nifty return over the next 21 days (%)" descr=""/>
          <p:cNvGraphicFramePr/>
          <p:nvPr/>
        </p:nvGraphicFramePr>
        <p:xfrm>
          <a:off x="6233008" y="1325880"/>
          <a:ext cx="5410048" cy="34290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4937760"/>
            <a:ext cx="11094415"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Volatility differs by regime (Levene p &lt; 0.001), but same-day returns do not (Kruskal-Wallis p = 0.66)</a:t>
            </a:r>
            <a:endParaRPr lang="en-US" sz="1400" dirty="0"/>
          </a:p>
          <a:p>
            <a:pPr marL="342900" indent="-342900">
              <a:spcAft>
                <a:spcPts val="800"/>
              </a:spcAft>
              <a:buSzPct val="100000"/>
              <a:buChar char="•"/>
            </a:pPr>
            <a:r>
              <a:rPr lang="en-US" sz="1400" dirty="0">
                <a:solidFill>
                  <a:schemeClr val="tx1"/>
                </a:solidFill>
              </a:rPr>
              <a:t>High VIX was followed by rebounds: +0.18% next-21-day return per VIX point (t = 4.3), mostly the 2020 recovery</a:t>
            </a:r>
            <a:endParaRPr lang="en-US" sz="1400" dirty="0"/>
          </a:p>
          <a:p>
            <a:pPr marL="342900" indent="-342900">
              <a:spcAft>
                <a:spcPts val="800"/>
              </a:spcAft>
              <a:buSzPct val="100000"/>
              <a:buChar char="•"/>
            </a:pPr>
            <a:r>
              <a:rPr lang="en-US" sz="1400" dirty="0">
                <a:solidFill>
                  <a:schemeClr val="tx1"/>
                </a:solidFill>
              </a:rPr>
              <a:t>Worst 63-day outcomes began in the Normal regime (5th percentile −14.6%), so protection must be in place before VIX rises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4 June 2024: build-up, spike, collapse</a:t>
            </a:r>
            <a:endParaRPr lang="en-US" sz="3400" dirty="0"/>
          </a:p>
        </p:txBody>
      </p:sp>
      <p:pic>
        <p:nvPicPr>
          <p:cNvPr id="3" name="Nifty, India VIX and the 30-day ATM straddle, April to July 2024" descr="Nifty, India VIX and the 30-day ATM straddle, April to July 2024">    </p:cNvPr>
          <p:cNvPicPr>
            <a:picLocks noChangeAspect="1"/>
          </p:cNvPicPr>
          <p:nvPr/>
        </p:nvPicPr>
        <p:blipFill>
          <a:blip r:embed="rId1"/>
          <a:stretch>
            <a:fillRect/>
          </a:stretch>
        </p:blipFill>
        <p:spPr>
          <a:xfrm>
            <a:off x="548640" y="1325880"/>
            <a:ext cx="6217920" cy="4860084"/>
          </a:xfrm>
          <a:prstGeom prst="rect">
            <a:avLst/>
          </a:prstGeom>
        </p:spPr>
      </p:pic>
      <p:sp>
        <p:nvSpPr>
          <p:cNvPr id="4" name="marker 1"/>
          <p:cNvSpPr/>
          <p:nvPr/>
        </p:nvSpPr>
        <p:spPr>
          <a:xfrm>
            <a:off x="7086600" y="1371600"/>
            <a:ext cx="457200" cy="457200"/>
          </a:xfrm>
          <a:prstGeom prst="ellipse">
            <a:avLst/>
          </a:prstGeom>
          <a:solidFill>
            <a:schemeClr val="tx2"/>
          </a:solidFill>
          <a:ln/>
        </p:spPr>
      </p:sp>
      <p:sp>
        <p:nvSpPr>
          <p:cNvPr id="5" name="Text 2"/>
          <p:cNvSpPr txBox="1"/>
          <p:nvPr/>
        </p:nvSpPr>
        <p:spPr>
          <a:xfrm>
            <a:off x="708660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Late Apr to 31 May: run-up"/>
          <p:cNvSpPr txBox="1"/>
          <p:nvPr/>
        </p:nvSpPr>
        <p:spPr>
          <a:xfrm>
            <a:off x="7772400" y="1371600"/>
            <a:ext cx="3870655" cy="11430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Late Apr to 31 May: run-up</a:t>
            </a:r>
            <a:endParaRPr lang="en-US" sz="1600" dirty="0"/>
          </a:p>
          <a:p>
            <a:pPr indent="0" marL="0">
              <a:buNone/>
            </a:pPr>
            <a:r>
              <a:rPr lang="en-US" sz="1400" dirty="0">
                <a:solidFill>
                  <a:schemeClr val="tx1"/>
                </a:solidFill>
              </a:rPr>
              <a:t>VIX 10.2 → 24.6 with Nifty flat; 30-day straddle 2.4% → 5.6% of spot</a:t>
            </a:r>
            <a:endParaRPr lang="en-US" sz="1600" dirty="0"/>
          </a:p>
        </p:txBody>
      </p:sp>
      <p:sp>
        <p:nvSpPr>
          <p:cNvPr id="7" name="marker 2"/>
          <p:cNvSpPr/>
          <p:nvPr/>
        </p:nvSpPr>
        <p:spPr>
          <a:xfrm>
            <a:off x="7086600" y="2587752"/>
            <a:ext cx="457200" cy="457200"/>
          </a:xfrm>
          <a:prstGeom prst="ellipse">
            <a:avLst/>
          </a:prstGeom>
          <a:solidFill>
            <a:schemeClr val="accent2"/>
          </a:solidFill>
          <a:ln/>
        </p:spPr>
      </p:sp>
      <p:sp>
        <p:nvSpPr>
          <p:cNvPr id="8" name="Text 5"/>
          <p:cNvSpPr txBox="1"/>
          <p:nvPr/>
        </p:nvSpPr>
        <p:spPr>
          <a:xfrm>
            <a:off x="7086600" y="25877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3 June: exit polls"/>
          <p:cNvSpPr txBox="1"/>
          <p:nvPr/>
        </p:nvSpPr>
        <p:spPr>
          <a:xfrm>
            <a:off x="7772400" y="2587752"/>
            <a:ext cx="3870655" cy="11430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3 June: exit polls</a:t>
            </a:r>
            <a:endParaRPr lang="en-US" sz="1600" dirty="0"/>
          </a:p>
          <a:p>
            <a:pPr indent="0" marL="0">
              <a:buNone/>
            </a:pPr>
            <a:r>
              <a:rPr lang="en-US" sz="1400" dirty="0">
                <a:solidFill>
                  <a:schemeClr val="tx1"/>
                </a:solidFill>
              </a:rPr>
              <a:t>Nifty +3.25%, VIX −15%: protection was cheapest just before the shock</a:t>
            </a:r>
            <a:endParaRPr lang="en-US" sz="1600" dirty="0"/>
          </a:p>
        </p:txBody>
      </p:sp>
      <p:sp>
        <p:nvSpPr>
          <p:cNvPr id="10" name="marker 3"/>
          <p:cNvSpPr/>
          <p:nvPr/>
        </p:nvSpPr>
        <p:spPr>
          <a:xfrm>
            <a:off x="7086600" y="3803904"/>
            <a:ext cx="457200" cy="457200"/>
          </a:xfrm>
          <a:prstGeom prst="ellipse">
            <a:avLst/>
          </a:prstGeom>
          <a:solidFill>
            <a:schemeClr val="accent1"/>
          </a:solidFill>
          <a:ln/>
        </p:spPr>
      </p:sp>
      <p:sp>
        <p:nvSpPr>
          <p:cNvPr id="11" name="Text 8"/>
          <p:cNvSpPr txBox="1"/>
          <p:nvPr/>
        </p:nvSpPr>
        <p:spPr>
          <a:xfrm>
            <a:off x="7086600" y="38039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4 June: result"/>
          <p:cNvSpPr txBox="1"/>
          <p:nvPr/>
        </p:nvSpPr>
        <p:spPr>
          <a:xfrm>
            <a:off x="7772400" y="3803904"/>
            <a:ext cx="3870655" cy="11430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4 June: result</a:t>
            </a:r>
            <a:endParaRPr lang="en-US" sz="1600" dirty="0"/>
          </a:p>
          <a:p>
            <a:pPr indent="0" marL="0">
              <a:buNone/>
            </a:pPr>
            <a:r>
              <a:rPr lang="en-US" sz="1400" dirty="0">
                <a:solidFill>
                  <a:schemeClr val="tx1"/>
                </a:solidFill>
              </a:rPr>
              <a:t>Nifty −5.93% (−8.5% intraday), VIX 26.75; June 22,500 put up 4.2×</a:t>
            </a:r>
            <a:endParaRPr lang="en-US" sz="1600" dirty="0"/>
          </a:p>
        </p:txBody>
      </p:sp>
      <p:sp>
        <p:nvSpPr>
          <p:cNvPr id="13" name="marker 4"/>
          <p:cNvSpPr/>
          <p:nvPr/>
        </p:nvSpPr>
        <p:spPr>
          <a:xfrm>
            <a:off x="7086600" y="5020056"/>
            <a:ext cx="457200" cy="457200"/>
          </a:xfrm>
          <a:prstGeom prst="ellipse">
            <a:avLst/>
          </a:prstGeom>
          <a:solidFill>
            <a:schemeClr val="accent3"/>
          </a:solidFill>
          <a:ln/>
        </p:spPr>
      </p:sp>
      <p:sp>
        <p:nvSpPr>
          <p:cNvPr id="14" name="Text 11"/>
          <p:cNvSpPr txBox="1"/>
          <p:nvPr/>
        </p:nvSpPr>
        <p:spPr>
          <a:xfrm>
            <a:off x="7086600" y="50200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5 to 7 June: vol crush"/>
          <p:cNvSpPr txBox="1"/>
          <p:nvPr/>
        </p:nvSpPr>
        <p:spPr>
          <a:xfrm>
            <a:off x="7772400" y="5020056"/>
            <a:ext cx="3870655" cy="114300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5 to 7 June: vol crush</a:t>
            </a:r>
            <a:endParaRPr lang="en-US" sz="1600" dirty="0"/>
          </a:p>
          <a:p>
            <a:pPr indent="0" marL="0">
              <a:buNone/>
            </a:pPr>
            <a:r>
              <a:rPr lang="en-US" sz="1400" dirty="0">
                <a:solidFill>
                  <a:schemeClr val="tx1"/>
                </a:solidFill>
              </a:rPr>
              <a:t>VIX −29% next day as Nifty rebounded 3.4%; straddle back to 3.9%</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Priced the size, not the direction</a:t>
            </a:r>
            <a:endParaRPr lang="en-US" sz="3400" dirty="0"/>
          </a:p>
        </p:txBody>
      </p:sp>
      <p:graphicFrame>
        <p:nvGraphicFramePr>
          <p:cNvPr id="10" name="event table"/>
          <p:cNvGraphicFramePr>
            <a:graphicFrameLocks noGrp="1"/>
          </p:cNvGraphicFramePr>
          <p:nvPr>
            <p:extLst>
              <p:ext uri="{D42A27DB-BD31-4B8C-83A1-F6EECF244321}">
                <p14:modId xmlns:p14="http://schemas.microsoft.com/office/powerpoint/2010/main" val="1579011935"/>
              </p:ext>
            </p:extLst>
          </p:nvPr>
        </p:nvGraphicFramePr>
        <p:xfrm>
          <a:off x="548640" y="1371600"/>
          <a:ext cx="8138160" cy="914400"/>
        </p:xfrm>
        <a:graphic>
          <a:graphicData uri="http://schemas.openxmlformats.org/drawingml/2006/table">
            <a:tbl>
              <a:tblPr/>
              <a:tblGrid>
                <a:gridCol w="2743200"/>
                <a:gridCol w="1143000"/>
                <a:gridCol w="1463040"/>
                <a:gridCol w="1554480"/>
                <a:gridCol w="1234440"/>
              </a:tblGrid>
              <a:tr h="457200">
                <a:tc>
                  <a:txBody>
                    <a:bodyPr/>
                    <a:lstStyle/>
                    <a:p>
                      <a:pPr indent="0" marL="0">
                        <a:buNone/>
                      </a:pPr>
                      <a:r>
                        <a:rPr lang="en-US" sz="1400" b="1" dirty="0">
                          <a:solidFill>
                            <a:schemeClr val="bg1"/>
                          </a:solidFill>
                        </a:rPr>
                        <a:t>Day</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Nifty move</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VIX</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Straddle, % of spot</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Move vs implied</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1"/>
                          </a:solidFill>
                        </a:rPr>
                        <a:t>Election result (Jun 2024)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−5.93%</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20.9 → 26.8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4.8 → 6.1</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4.6×</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Exit polls (Jun 2024)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+3.25%</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24.6 → 20.9</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5.6 → 4.8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2.1×</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US tariffs (Apr 2025)</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−3.24%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13.8 → 22.8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3.2 → 5.2</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Yen carry (Aug 2024)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−2.68%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14.3 → 20.4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3.3 → 4.7</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3.0×</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Ukraine (Feb 2022)</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−4.78%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24.5 → 32.0</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5.6 → 7.3</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3.2×</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COVID (Mar 2020)</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−12.98%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67.1 → 72.0</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15.3 → 16.4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3.3×</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57200">
                <a:tc>
                  <a:txBody>
                    <a:bodyPr/>
                    <a:lstStyle/>
                    <a:p>
                      <a:pPr indent="0" marL="0">
                        <a:buNone/>
                      </a:pPr>
                      <a:r>
                        <a:rPr lang="en-US" sz="1400" b="1" dirty="0">
                          <a:solidFill>
                            <a:schemeClr val="tx1"/>
                          </a:solidFill>
                        </a:rPr>
                        <a:t>Normal day (median)</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±0.47%</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14.7</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0.5×</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5440680"/>
            <a:ext cx="8138160" cy="548640"/>
          </a:xfrm>
          <a:prstGeom prst="rect">
            <a:avLst/>
          </a:prstGeom>
          <a:noFill/>
          <a:ln/>
        </p:spPr>
        <p:txBody>
          <a:bodyPr wrap="square" lIns="0" tIns="0" rIns="0" bIns="0" rtlCol="0" anchor="t"/>
          <a:lstStyle/>
          <a:p>
            <a:pPr indent="0" marL="0">
              <a:buNone/>
            </a:pPr>
            <a:r>
              <a:rPr lang="en-US" sz="1200" dirty="0">
                <a:solidFill>
                  <a:schemeClr val="tx2"/>
                </a:solidFill>
              </a:rPr>
              <a:t>Straddle = 30-day at-the-money, modelled from VIX. Move vs implied = absolute move ÷ (previous day's VIX ÷ √252).</a:t>
            </a:r>
            <a:endParaRPr lang="en-US" sz="1200" dirty="0"/>
          </a:p>
        </p:txBody>
      </p:sp>
      <p:sp>
        <p:nvSpPr>
          <p:cNvPr id="5" name="stat 5.8%"/>
          <p:cNvSpPr/>
          <p:nvPr/>
        </p:nvSpPr>
        <p:spPr>
          <a:xfrm>
            <a:off x="8961120" y="1371600"/>
            <a:ext cx="2681935" cy="1508760"/>
          </a:xfrm>
          <a:prstGeom prst="roundRect">
            <a:avLst>
              <a:gd name="adj" fmla="val 4848"/>
            </a:avLst>
          </a:prstGeom>
          <a:solidFill>
            <a:schemeClr val="bg2"/>
          </a:solidFill>
          <a:ln/>
        </p:spPr>
      </p:sp>
      <p:sp>
        <p:nvSpPr>
          <p:cNvPr id="6" name="stat value 5.8%"/>
          <p:cNvSpPr txBox="1"/>
          <p:nvPr/>
        </p:nvSpPr>
        <p:spPr>
          <a:xfrm>
            <a:off x="9189720" y="1536192"/>
            <a:ext cx="2224735" cy="548640"/>
          </a:xfrm>
          <a:prstGeom prst="rect">
            <a:avLst/>
          </a:prstGeom>
          <a:noFill/>
          <a:ln/>
        </p:spPr>
        <p:txBody>
          <a:bodyPr wrap="square" lIns="0" tIns="0" rIns="0" bIns="0" rtlCol="0" anchor="ctr"/>
          <a:lstStyle/>
          <a:p>
            <a:pPr indent="0" marL="0">
              <a:buNone/>
            </a:pPr>
            <a:r>
              <a:rPr lang="en-US" sz="3000" b="1" dirty="0">
                <a:solidFill>
                  <a:schemeClr val="tx2"/>
                </a:solidFill>
              </a:rPr>
              <a:t>5.8%</a:t>
            </a:r>
            <a:endParaRPr lang="en-US" sz="3000" dirty="0"/>
          </a:p>
        </p:txBody>
      </p:sp>
      <p:sp>
        <p:nvSpPr>
          <p:cNvPr id="7" name="stat label 5.8%"/>
          <p:cNvSpPr txBox="1"/>
          <p:nvPr/>
        </p:nvSpPr>
        <p:spPr>
          <a:xfrm>
            <a:off x="9189720" y="2121408"/>
            <a:ext cx="2224735" cy="667512"/>
          </a:xfrm>
          <a:prstGeom prst="rect">
            <a:avLst/>
          </a:prstGeom>
          <a:noFill/>
          <a:ln/>
        </p:spPr>
        <p:txBody>
          <a:bodyPr wrap="square" lIns="0" tIns="0" rIns="0" bIns="0" rtlCol="0" anchor="t"/>
          <a:lstStyle/>
          <a:p>
            <a:pPr indent="0" marL="0">
              <a:buNone/>
            </a:pPr>
            <a:r>
              <a:rPr lang="en-US" sz="1400" dirty="0">
                <a:solidFill>
                  <a:schemeClr val="tx1"/>
                </a:solidFill>
              </a:rPr>
              <a:t>Move implied by the 31 May VIX (normal VIX 14.4)</a:t>
            </a:r>
            <a:endParaRPr lang="en-US" sz="1400" dirty="0"/>
          </a:p>
        </p:txBody>
      </p:sp>
      <p:sp>
        <p:nvSpPr>
          <p:cNvPr id="8" name="stat 5.9%"/>
          <p:cNvSpPr/>
          <p:nvPr/>
        </p:nvSpPr>
        <p:spPr>
          <a:xfrm>
            <a:off x="8961120" y="3108960"/>
            <a:ext cx="2681935" cy="1508760"/>
          </a:xfrm>
          <a:prstGeom prst="roundRect">
            <a:avLst>
              <a:gd name="adj" fmla="val 4848"/>
            </a:avLst>
          </a:prstGeom>
          <a:solidFill>
            <a:schemeClr val="bg2"/>
          </a:solidFill>
          <a:ln/>
        </p:spPr>
      </p:sp>
      <p:sp>
        <p:nvSpPr>
          <p:cNvPr id="9" name="stat value 5.9%"/>
          <p:cNvSpPr txBox="1"/>
          <p:nvPr/>
        </p:nvSpPr>
        <p:spPr>
          <a:xfrm>
            <a:off x="9189720" y="3273552"/>
            <a:ext cx="2224735" cy="548640"/>
          </a:xfrm>
          <a:prstGeom prst="rect">
            <a:avLst/>
          </a:prstGeom>
          <a:noFill/>
          <a:ln/>
        </p:spPr>
        <p:txBody>
          <a:bodyPr wrap="square" lIns="0" tIns="0" rIns="0" bIns="0" rtlCol="0" anchor="ctr"/>
          <a:lstStyle/>
          <a:p>
            <a:pPr indent="0" marL="0">
              <a:buNone/>
            </a:pPr>
            <a:r>
              <a:rPr lang="en-US" sz="3000" b="1" dirty="0">
                <a:solidFill>
                  <a:schemeClr val="accent1"/>
                </a:solidFill>
              </a:rPr>
              <a:t>5.9%</a:t>
            </a:r>
            <a:endParaRPr lang="en-US" sz="3000" dirty="0"/>
          </a:p>
        </p:txBody>
      </p:sp>
      <p:sp>
        <p:nvSpPr>
          <p:cNvPr id="10" name="stat label 5.9%"/>
          <p:cNvSpPr txBox="1"/>
          <p:nvPr/>
        </p:nvSpPr>
        <p:spPr>
          <a:xfrm>
            <a:off x="9189720" y="3858768"/>
            <a:ext cx="2224735" cy="667512"/>
          </a:xfrm>
          <a:prstGeom prst="rect">
            <a:avLst/>
          </a:prstGeom>
          <a:noFill/>
          <a:ln/>
        </p:spPr>
        <p:txBody>
          <a:bodyPr wrap="square" lIns="0" tIns="0" rIns="0" bIns="0" rtlCol="0" anchor="t"/>
          <a:lstStyle/>
          <a:p>
            <a:pPr indent="0" marL="0">
              <a:buNone/>
            </a:pPr>
            <a:r>
              <a:rPr lang="en-US" sz="1400" dirty="0">
                <a:solidFill>
                  <a:schemeClr val="tx1"/>
                </a:solidFill>
              </a:rPr>
              <a:t>Actual fall on 4 June</a:t>
            </a:r>
            <a:endParaRPr lang="en-US" sz="1400" dirty="0"/>
          </a:p>
        </p:txBody>
      </p:sp>
      <p:sp>
        <p:nvSpPr>
          <p:cNvPr id="11" name="stat 4.6×"/>
          <p:cNvSpPr/>
          <p:nvPr/>
        </p:nvSpPr>
        <p:spPr>
          <a:xfrm>
            <a:off x="8961120" y="4846320"/>
            <a:ext cx="2681935" cy="1371600"/>
          </a:xfrm>
          <a:prstGeom prst="roundRect">
            <a:avLst>
              <a:gd name="adj" fmla="val 5333"/>
            </a:avLst>
          </a:prstGeom>
          <a:solidFill>
            <a:schemeClr val="bg2"/>
          </a:solidFill>
          <a:ln/>
        </p:spPr>
      </p:sp>
      <p:sp>
        <p:nvSpPr>
          <p:cNvPr id="12" name="stat value 4.6×"/>
          <p:cNvSpPr txBox="1"/>
          <p:nvPr/>
        </p:nvSpPr>
        <p:spPr>
          <a:xfrm>
            <a:off x="9189720" y="5010912"/>
            <a:ext cx="2224735" cy="548640"/>
          </a:xfrm>
          <a:prstGeom prst="rect">
            <a:avLst/>
          </a:prstGeom>
          <a:noFill/>
          <a:ln/>
        </p:spPr>
        <p:txBody>
          <a:bodyPr wrap="square" lIns="0" tIns="0" rIns="0" bIns="0" rtlCol="0" anchor="ctr"/>
          <a:lstStyle/>
          <a:p>
            <a:pPr indent="0" marL="0">
              <a:buNone/>
            </a:pPr>
            <a:r>
              <a:rPr lang="en-US" sz="3000" b="1" dirty="0">
                <a:solidFill>
                  <a:schemeClr val="accent1"/>
                </a:solidFill>
              </a:rPr>
              <a:t>4.6×</a:t>
            </a:r>
            <a:endParaRPr lang="en-US" sz="3000" dirty="0"/>
          </a:p>
        </p:txBody>
      </p:sp>
      <p:sp>
        <p:nvSpPr>
          <p:cNvPr id="13" name="stat label 4.6×"/>
          <p:cNvSpPr txBox="1"/>
          <p:nvPr/>
        </p:nvSpPr>
        <p:spPr>
          <a:xfrm>
            <a:off x="9189720" y="5596128"/>
            <a:ext cx="2224735" cy="530352"/>
          </a:xfrm>
          <a:prstGeom prst="rect">
            <a:avLst/>
          </a:prstGeom>
          <a:noFill/>
          <a:ln/>
        </p:spPr>
        <p:txBody>
          <a:bodyPr wrap="square" lIns="0" tIns="0" rIns="0" bIns="0" rtlCol="0" anchor="t"/>
          <a:lstStyle/>
          <a:p>
            <a:pPr indent="0" marL="0">
              <a:buNone/>
            </a:pPr>
            <a:r>
              <a:rPr lang="en-US" sz="1400" dirty="0">
                <a:solidFill>
                  <a:schemeClr val="tx1"/>
                </a:solidFill>
              </a:rPr>
              <a:t>Largest move vs implied in the sample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Proposed hedge: buy in calm, sell into fear</a:t>
            </a:r>
            <a:endParaRPr lang="en-US" sz="3400" dirty="0"/>
          </a:p>
        </p:txBody>
      </p:sp>
      <p:sp>
        <p:nvSpPr>
          <p:cNvPr id="3" name="rule Buy"/>
          <p:cNvSpPr/>
          <p:nvPr/>
        </p:nvSpPr>
        <p:spPr>
          <a:xfrm>
            <a:off x="548640" y="1371600"/>
            <a:ext cx="2036003" cy="2697480"/>
          </a:xfrm>
          <a:prstGeom prst="roundRect">
            <a:avLst>
              <a:gd name="adj" fmla="val 3593"/>
            </a:avLst>
          </a:prstGeom>
          <a:solidFill>
            <a:srgbClr val="E3EEFB"/>
          </a:solidFill>
          <a:ln/>
        </p:spPr>
      </p:sp>
      <p:sp>
        <p:nvSpPr>
          <p:cNvPr id="4" name="marker 1"/>
          <p:cNvSpPr/>
          <p:nvPr/>
        </p:nvSpPr>
        <p:spPr>
          <a:xfrm>
            <a:off x="777240" y="1600200"/>
            <a:ext cx="457200" cy="457200"/>
          </a:xfrm>
          <a:prstGeom prst="ellipse">
            <a:avLst/>
          </a:prstGeom>
          <a:solidFill>
            <a:schemeClr val="accent2"/>
          </a:solidFill>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Buy"/>
          <p:cNvSpPr txBox="1"/>
          <p:nvPr/>
        </p:nvSpPr>
        <p:spPr>
          <a:xfrm>
            <a:off x="777240" y="2194560"/>
            <a:ext cx="1578803" cy="17373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Buy</a:t>
            </a:r>
            <a:endParaRPr lang="en-US" sz="1800" dirty="0"/>
          </a:p>
          <a:p>
            <a:pPr indent="0" marL="0">
              <a:buNone/>
            </a:pPr>
            <a:r>
              <a:rPr lang="en-US" sz="1400" dirty="0">
                <a:solidFill>
                  <a:schemeClr val="tx1"/>
                </a:solidFill>
              </a:rPr>
              <a:t>VIX below 13 at month start: buy a 3-month put 5% below spot on the whole portfolio</a:t>
            </a:r>
            <a:endParaRPr lang="en-US" sz="1800" dirty="0"/>
          </a:p>
        </p:txBody>
      </p:sp>
      <p:sp>
        <p:nvSpPr>
          <p:cNvPr id="7" name="rule Roll"/>
          <p:cNvSpPr/>
          <p:nvPr/>
        </p:nvSpPr>
        <p:spPr>
          <a:xfrm>
            <a:off x="2813243" y="1371600"/>
            <a:ext cx="2036003" cy="2697480"/>
          </a:xfrm>
          <a:prstGeom prst="roundRect">
            <a:avLst>
              <a:gd name="adj" fmla="val 3593"/>
            </a:avLst>
          </a:prstGeom>
          <a:solidFill>
            <a:srgbClr val="E3EEFB"/>
          </a:solidFill>
          <a:ln/>
        </p:spPr>
      </p:sp>
      <p:sp>
        <p:nvSpPr>
          <p:cNvPr id="8" name="marker 2"/>
          <p:cNvSpPr/>
          <p:nvPr/>
        </p:nvSpPr>
        <p:spPr>
          <a:xfrm>
            <a:off x="3041843" y="1600200"/>
            <a:ext cx="457200" cy="457200"/>
          </a:xfrm>
          <a:prstGeom prst="ellipse">
            <a:avLst/>
          </a:prstGeom>
          <a:solidFill>
            <a:schemeClr val="accent2"/>
          </a:solidFill>
          <a:ln/>
        </p:spPr>
      </p:sp>
      <p:sp>
        <p:nvSpPr>
          <p:cNvPr id="9" name="Text 7"/>
          <p:cNvSpPr txBox="1"/>
          <p:nvPr/>
        </p:nvSpPr>
        <p:spPr>
          <a:xfrm>
            <a:off x="3041843"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Roll"/>
          <p:cNvSpPr txBox="1"/>
          <p:nvPr/>
        </p:nvSpPr>
        <p:spPr>
          <a:xfrm>
            <a:off x="3041843" y="2194560"/>
            <a:ext cx="1578803" cy="17373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Roll</a:t>
            </a:r>
            <a:endParaRPr lang="en-US" sz="1800" dirty="0"/>
          </a:p>
          <a:p>
            <a:pPr indent="0" marL="0">
              <a:buNone/>
            </a:pPr>
            <a:r>
              <a:rPr lang="en-US" sz="1400" dirty="0">
                <a:solidFill>
                  <a:schemeClr val="tx1"/>
                </a:solidFill>
              </a:rPr>
              <a:t>While VIX stays below 13, swap it each month for a fresh 3-month put</a:t>
            </a:r>
            <a:endParaRPr lang="en-US" sz="1800" dirty="0"/>
          </a:p>
        </p:txBody>
      </p:sp>
      <p:sp>
        <p:nvSpPr>
          <p:cNvPr id="11" name="rule Wait"/>
          <p:cNvSpPr/>
          <p:nvPr/>
        </p:nvSpPr>
        <p:spPr>
          <a:xfrm>
            <a:off x="5077846" y="1371600"/>
            <a:ext cx="2036003" cy="2697480"/>
          </a:xfrm>
          <a:prstGeom prst="roundRect">
            <a:avLst>
              <a:gd name="adj" fmla="val 3593"/>
            </a:avLst>
          </a:prstGeom>
          <a:solidFill>
            <a:srgbClr val="EEF2F7"/>
          </a:solidFill>
          <a:ln/>
        </p:spPr>
      </p:sp>
      <p:sp>
        <p:nvSpPr>
          <p:cNvPr id="12" name="marker 3"/>
          <p:cNvSpPr/>
          <p:nvPr/>
        </p:nvSpPr>
        <p:spPr>
          <a:xfrm>
            <a:off x="5306446" y="1600200"/>
            <a:ext cx="457200" cy="457200"/>
          </a:xfrm>
          <a:prstGeom prst="ellipse">
            <a:avLst/>
          </a:prstGeom>
          <a:solidFill>
            <a:schemeClr val="tx2"/>
          </a:solidFill>
          <a:ln/>
        </p:spPr>
      </p:sp>
      <p:sp>
        <p:nvSpPr>
          <p:cNvPr id="13" name="Text 11"/>
          <p:cNvSpPr txBox="1"/>
          <p:nvPr/>
        </p:nvSpPr>
        <p:spPr>
          <a:xfrm>
            <a:off x="5306446"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Wait"/>
          <p:cNvSpPr txBox="1"/>
          <p:nvPr/>
        </p:nvSpPr>
        <p:spPr>
          <a:xfrm>
            <a:off x="5306446" y="2194560"/>
            <a:ext cx="1578803" cy="17373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Wait</a:t>
            </a:r>
            <a:endParaRPr lang="en-US" sz="1800" dirty="0"/>
          </a:p>
          <a:p>
            <a:pPr indent="0" marL="0">
              <a:buNone/>
            </a:pPr>
            <a:r>
              <a:rPr lang="en-US" sz="1400" dirty="0">
                <a:solidFill>
                  <a:schemeClr val="tx1"/>
                </a:solidFill>
              </a:rPr>
              <a:t>VIX 13 or above: buy nothing new and hold the existing put to expiry</a:t>
            </a:r>
            <a:endParaRPr lang="en-US" sz="1800" dirty="0"/>
          </a:p>
        </p:txBody>
      </p:sp>
      <p:sp>
        <p:nvSpPr>
          <p:cNvPr id="15" name="rule Sell half"/>
          <p:cNvSpPr/>
          <p:nvPr/>
        </p:nvSpPr>
        <p:spPr>
          <a:xfrm>
            <a:off x="7342449" y="1371600"/>
            <a:ext cx="2036003" cy="2697480"/>
          </a:xfrm>
          <a:prstGeom prst="roundRect">
            <a:avLst>
              <a:gd name="adj" fmla="val 3593"/>
            </a:avLst>
          </a:prstGeom>
          <a:solidFill>
            <a:srgbClr val="FCE9DC"/>
          </a:solidFill>
          <a:ln/>
        </p:spPr>
      </p:sp>
      <p:sp>
        <p:nvSpPr>
          <p:cNvPr id="16" name="marker 4"/>
          <p:cNvSpPr/>
          <p:nvPr/>
        </p:nvSpPr>
        <p:spPr>
          <a:xfrm>
            <a:off x="7571049" y="1600200"/>
            <a:ext cx="457200" cy="457200"/>
          </a:xfrm>
          <a:prstGeom prst="ellipse">
            <a:avLst/>
          </a:prstGeom>
          <a:solidFill>
            <a:schemeClr val="accent1"/>
          </a:solidFill>
          <a:ln/>
        </p:spPr>
      </p:sp>
      <p:sp>
        <p:nvSpPr>
          <p:cNvPr id="17" name="Text 15"/>
          <p:cNvSpPr txBox="1"/>
          <p:nvPr/>
        </p:nvSpPr>
        <p:spPr>
          <a:xfrm>
            <a:off x="7571049"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Sell half"/>
          <p:cNvSpPr txBox="1"/>
          <p:nvPr/>
        </p:nvSpPr>
        <p:spPr>
          <a:xfrm>
            <a:off x="7571049" y="2194560"/>
            <a:ext cx="1578803" cy="17373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Sell half</a:t>
            </a:r>
            <a:endParaRPr lang="en-US" sz="1800" dirty="0"/>
          </a:p>
          <a:p>
            <a:pPr indent="0" marL="0">
              <a:buNone/>
            </a:pPr>
            <a:r>
              <a:rPr lang="en-US" sz="1400" dirty="0">
                <a:solidFill>
                  <a:schemeClr val="tx1"/>
                </a:solidFill>
              </a:rPr>
              <a:t>First close with VIX at 22 or more: sell 50% of the puts</a:t>
            </a:r>
            <a:endParaRPr lang="en-US" sz="1800" dirty="0"/>
          </a:p>
        </p:txBody>
      </p:sp>
      <p:sp>
        <p:nvSpPr>
          <p:cNvPr id="19" name="rule Sell the rest"/>
          <p:cNvSpPr/>
          <p:nvPr/>
        </p:nvSpPr>
        <p:spPr>
          <a:xfrm>
            <a:off x="9607052" y="1371600"/>
            <a:ext cx="2036003" cy="2697480"/>
          </a:xfrm>
          <a:prstGeom prst="roundRect">
            <a:avLst>
              <a:gd name="adj" fmla="val 3593"/>
            </a:avLst>
          </a:prstGeom>
          <a:solidFill>
            <a:srgbClr val="FCE9DC"/>
          </a:solidFill>
          <a:ln/>
        </p:spPr>
      </p:sp>
      <p:sp>
        <p:nvSpPr>
          <p:cNvPr id="20" name="marker 5"/>
          <p:cNvSpPr/>
          <p:nvPr/>
        </p:nvSpPr>
        <p:spPr>
          <a:xfrm>
            <a:off x="9835652" y="1600200"/>
            <a:ext cx="457200" cy="457200"/>
          </a:xfrm>
          <a:prstGeom prst="ellipse">
            <a:avLst/>
          </a:prstGeom>
          <a:solidFill>
            <a:schemeClr val="accent1"/>
          </a:solidFill>
          <a:ln/>
        </p:spPr>
      </p:sp>
      <p:sp>
        <p:nvSpPr>
          <p:cNvPr id="21" name="Text 19"/>
          <p:cNvSpPr txBox="1"/>
          <p:nvPr/>
        </p:nvSpPr>
        <p:spPr>
          <a:xfrm>
            <a:off x="9835652" y="1600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Sell the rest"/>
          <p:cNvSpPr txBox="1"/>
          <p:nvPr/>
        </p:nvSpPr>
        <p:spPr>
          <a:xfrm>
            <a:off x="9835652" y="2194560"/>
            <a:ext cx="1578803" cy="173736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Sell the rest</a:t>
            </a:r>
            <a:endParaRPr lang="en-US" sz="1800" dirty="0"/>
          </a:p>
          <a:p>
            <a:pPr indent="0" marL="0">
              <a:buNone/>
            </a:pPr>
            <a:r>
              <a:rPr lang="en-US" sz="1400" dirty="0">
                <a:solidFill>
                  <a:schemeClr val="tx1"/>
                </a:solidFill>
              </a:rPr>
              <a:t>VIX 20% below its post-spike peak: sell the rest and reinvest in Nifty</a:t>
            </a:r>
            <a:endParaRPr lang="en-US" sz="1800" dirty="0"/>
          </a:p>
        </p:txBody>
      </p:sp>
      <p:sp>
        <p:nvSpPr>
          <p:cNvPr id="23" name="why 1"/>
          <p:cNvSpPr/>
          <p:nvPr/>
        </p:nvSpPr>
        <p:spPr>
          <a:xfrm>
            <a:off x="548640" y="4343400"/>
            <a:ext cx="3515258" cy="1828800"/>
          </a:xfrm>
          <a:prstGeom prst="roundRect">
            <a:avLst>
              <a:gd name="adj" fmla="val 4000"/>
            </a:avLst>
          </a:prstGeom>
          <a:solidFill>
            <a:schemeClr val="bg2"/>
          </a:solidFill>
          <a:ln/>
        </p:spPr>
      </p:sp>
      <p:sp>
        <p:nvSpPr>
          <p:cNvPr id="24" name="Options are cheapest in calm markets"/>
          <p:cNvSpPr txBox="1"/>
          <p:nvPr/>
        </p:nvSpPr>
        <p:spPr>
          <a:xfrm>
            <a:off x="822960" y="4572000"/>
            <a:ext cx="2966618" cy="1463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Options are cheapest in calm markets</a:t>
            </a:r>
            <a:endParaRPr lang="en-US" sz="1600" dirty="0"/>
          </a:p>
          <a:p>
            <a:pPr indent="0" marL="0">
              <a:buNone/>
            </a:pPr>
            <a:r>
              <a:rPr lang="en-US" sz="1400" dirty="0">
                <a:solidFill>
                  <a:schemeClr val="tx1"/>
                </a:solidFill>
              </a:rPr>
              <a:t>Low regime: VIX averaged 11.7 and realised vol 9.5%</a:t>
            </a:r>
            <a:endParaRPr lang="en-US" sz="1600" dirty="0"/>
          </a:p>
        </p:txBody>
      </p:sp>
      <p:sp>
        <p:nvSpPr>
          <p:cNvPr id="25" name="why 2"/>
          <p:cNvSpPr/>
          <p:nvPr/>
        </p:nvSpPr>
        <p:spPr>
          <a:xfrm>
            <a:off x="4338218" y="4343400"/>
            <a:ext cx="3515258" cy="1828800"/>
          </a:xfrm>
          <a:prstGeom prst="roundRect">
            <a:avLst>
              <a:gd name="adj" fmla="val 4000"/>
            </a:avLst>
          </a:prstGeom>
          <a:solidFill>
            <a:schemeClr val="bg2"/>
          </a:solidFill>
          <a:ln/>
        </p:spPr>
      </p:sp>
      <p:sp>
        <p:nvSpPr>
          <p:cNvPr id="26" name="Fear is most overpriced after a spike"/>
          <p:cNvSpPr txBox="1"/>
          <p:nvPr/>
        </p:nvSpPr>
        <p:spPr>
          <a:xfrm>
            <a:off x="4612538" y="4572000"/>
            <a:ext cx="2966618" cy="1463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Fear is most overpriced after a spike</a:t>
            </a:r>
            <a:endParaRPr lang="en-US" sz="1600" dirty="0"/>
          </a:p>
          <a:p>
            <a:pPr indent="0" marL="0">
              <a:buNone/>
            </a:pPr>
            <a:r>
              <a:rPr lang="en-US" sz="1400" dirty="0">
                <a:solidFill>
                  <a:schemeClr val="tx1"/>
                </a:solidFill>
              </a:rPr>
              <a:t>VRP of 4.0 pts in the high regime: the time to sell, not buy</a:t>
            </a:r>
            <a:endParaRPr lang="en-US" sz="1600" dirty="0"/>
          </a:p>
        </p:txBody>
      </p:sp>
      <p:sp>
        <p:nvSpPr>
          <p:cNvPr id="27" name="why 3"/>
          <p:cNvSpPr/>
          <p:nvPr/>
        </p:nvSpPr>
        <p:spPr>
          <a:xfrm>
            <a:off x="8127797" y="4343400"/>
            <a:ext cx="3515258" cy="1828800"/>
          </a:xfrm>
          <a:prstGeom prst="roundRect">
            <a:avLst>
              <a:gd name="adj" fmla="val 4000"/>
            </a:avLst>
          </a:prstGeom>
          <a:solidFill>
            <a:schemeClr val="bg2"/>
          </a:solidFill>
          <a:ln/>
        </p:spPr>
      </p:sp>
      <p:sp>
        <p:nvSpPr>
          <p:cNvPr id="28" name="Three months buys time"/>
          <p:cNvSpPr txBox="1"/>
          <p:nvPr/>
        </p:nvSpPr>
        <p:spPr>
          <a:xfrm>
            <a:off x="8402117" y="4572000"/>
            <a:ext cx="2966618" cy="14630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Three months buys time</a:t>
            </a:r>
            <a:endParaRPr lang="en-US" sz="1600" dirty="0"/>
          </a:p>
          <a:p>
            <a:pPr indent="0" marL="0">
              <a:buNone/>
            </a:pPr>
            <a:r>
              <a:rPr lang="en-US" sz="1400" dirty="0">
                <a:solidFill>
                  <a:schemeClr val="tx1"/>
                </a:solidFill>
              </a:rPr>
              <a:t>Slower decay and more vega than 1-month puts, and it survives a lag between signal and crash</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Backtest: higher return, smaller falls</a:t>
            </a:r>
            <a:endParaRPr lang="en-US" sz="3400" dirty="0"/>
          </a:p>
        </p:txBody>
      </p:sp>
      <p:pic>
        <p:nvPicPr>
          <p:cNvPr id="3" name="Growth of 1 and drawdowns for each hedging strategy, 2020 to 2026" descr="Growth of 1 and drawdowns for each hedging strategy, 2020 to 2026">    </p:cNvPr>
          <p:cNvPicPr>
            <a:picLocks noChangeAspect="1"/>
          </p:cNvPicPr>
          <p:nvPr/>
        </p:nvPicPr>
        <p:blipFill>
          <a:blip r:embed="rId1"/>
          <a:stretch>
            <a:fillRect/>
          </a:stretch>
        </p:blipFill>
        <p:spPr>
          <a:xfrm>
            <a:off x="548640" y="1325880"/>
            <a:ext cx="6949440" cy="4766166"/>
          </a:xfrm>
          <a:prstGeom prst="rect">
            <a:avLst/>
          </a:prstGeom>
        </p:spPr>
      </p:pic>
      <p:sp>
        <p:nvSpPr>
          <p:cNvPr id="4" name="stat 13.9% vs 11.1%"/>
          <p:cNvSpPr/>
          <p:nvPr/>
        </p:nvSpPr>
        <p:spPr>
          <a:xfrm>
            <a:off x="7818120" y="1325880"/>
            <a:ext cx="3824935" cy="1097280"/>
          </a:xfrm>
          <a:prstGeom prst="roundRect">
            <a:avLst>
              <a:gd name="adj" fmla="val 6667"/>
            </a:avLst>
          </a:prstGeom>
          <a:solidFill>
            <a:schemeClr val="bg2"/>
          </a:solidFill>
          <a:ln/>
        </p:spPr>
      </p:sp>
      <p:sp>
        <p:nvSpPr>
          <p:cNvPr id="5" name="stat value 13.9% vs 11.1%"/>
          <p:cNvSpPr txBox="1"/>
          <p:nvPr/>
        </p:nvSpPr>
        <p:spPr>
          <a:xfrm>
            <a:off x="8046720" y="1490472"/>
            <a:ext cx="3367735" cy="457200"/>
          </a:xfrm>
          <a:prstGeom prst="rect">
            <a:avLst/>
          </a:prstGeom>
          <a:noFill/>
          <a:ln/>
        </p:spPr>
        <p:txBody>
          <a:bodyPr wrap="square" lIns="0" tIns="0" rIns="0" bIns="0" rtlCol="0" anchor="ctr"/>
          <a:lstStyle/>
          <a:p>
            <a:pPr indent="0" marL="0">
              <a:buNone/>
            </a:pPr>
            <a:r>
              <a:rPr lang="en-US" sz="2600" b="1" dirty="0">
                <a:solidFill>
                  <a:schemeClr val="accent2"/>
                </a:solidFill>
              </a:rPr>
              <a:t>13.9% vs 11.1%</a:t>
            </a:r>
            <a:endParaRPr lang="en-US" sz="2600" dirty="0"/>
          </a:p>
        </p:txBody>
      </p:sp>
      <p:sp>
        <p:nvSpPr>
          <p:cNvPr id="6" name="stat label 13.9% vs 11.1%"/>
          <p:cNvSpPr txBox="1"/>
          <p:nvPr/>
        </p:nvSpPr>
        <p:spPr>
          <a:xfrm>
            <a:off x="8046720" y="1984248"/>
            <a:ext cx="3367735" cy="347472"/>
          </a:xfrm>
          <a:prstGeom prst="rect">
            <a:avLst/>
          </a:prstGeom>
          <a:noFill/>
          <a:ln/>
        </p:spPr>
        <p:txBody>
          <a:bodyPr wrap="square" lIns="0" tIns="0" rIns="0" bIns="0" rtlCol="0" anchor="t"/>
          <a:lstStyle/>
          <a:p>
            <a:pPr indent="0" marL="0">
              <a:buNone/>
            </a:pPr>
            <a:r>
              <a:rPr lang="en-US" sz="1400" dirty="0">
                <a:solidFill>
                  <a:schemeClr val="tx1"/>
                </a:solidFill>
              </a:rPr>
              <a:t>Annual return vs unhedged</a:t>
            </a:r>
            <a:endParaRPr lang="en-US" sz="1400" dirty="0"/>
          </a:p>
        </p:txBody>
      </p:sp>
      <p:sp>
        <p:nvSpPr>
          <p:cNvPr id="7" name="stat −22% vs −38%"/>
          <p:cNvSpPr/>
          <p:nvPr/>
        </p:nvSpPr>
        <p:spPr>
          <a:xfrm>
            <a:off x="7818120" y="2560320"/>
            <a:ext cx="3824935" cy="1097280"/>
          </a:xfrm>
          <a:prstGeom prst="roundRect">
            <a:avLst>
              <a:gd name="adj" fmla="val 6667"/>
            </a:avLst>
          </a:prstGeom>
          <a:solidFill>
            <a:schemeClr val="bg2"/>
          </a:solidFill>
          <a:ln/>
        </p:spPr>
      </p:sp>
      <p:sp>
        <p:nvSpPr>
          <p:cNvPr id="8" name="stat value −22% vs −38%"/>
          <p:cNvSpPr txBox="1"/>
          <p:nvPr/>
        </p:nvSpPr>
        <p:spPr>
          <a:xfrm>
            <a:off x="8046720" y="2724912"/>
            <a:ext cx="3367735" cy="457200"/>
          </a:xfrm>
          <a:prstGeom prst="rect">
            <a:avLst/>
          </a:prstGeom>
          <a:noFill/>
          <a:ln/>
        </p:spPr>
        <p:txBody>
          <a:bodyPr wrap="square" lIns="0" tIns="0" rIns="0" bIns="0" rtlCol="0" anchor="ctr"/>
          <a:lstStyle/>
          <a:p>
            <a:pPr indent="0" marL="0">
              <a:buNone/>
            </a:pPr>
            <a:r>
              <a:rPr lang="en-US" sz="2600" b="1" dirty="0">
                <a:solidFill>
                  <a:schemeClr val="accent2"/>
                </a:solidFill>
              </a:rPr>
              <a:t>−22% vs −38%</a:t>
            </a:r>
            <a:endParaRPr lang="en-US" sz="2600" dirty="0"/>
          </a:p>
        </p:txBody>
      </p:sp>
      <p:sp>
        <p:nvSpPr>
          <p:cNvPr id="9" name="stat label −22% vs −38%"/>
          <p:cNvSpPr txBox="1"/>
          <p:nvPr/>
        </p:nvSpPr>
        <p:spPr>
          <a:xfrm>
            <a:off x="8046720" y="3218688"/>
            <a:ext cx="3367735" cy="347472"/>
          </a:xfrm>
          <a:prstGeom prst="rect">
            <a:avLst/>
          </a:prstGeom>
          <a:noFill/>
          <a:ln/>
        </p:spPr>
        <p:txBody>
          <a:bodyPr wrap="square" lIns="0" tIns="0" rIns="0" bIns="0" rtlCol="0" anchor="t"/>
          <a:lstStyle/>
          <a:p>
            <a:pPr indent="0" marL="0">
              <a:buNone/>
            </a:pPr>
            <a:r>
              <a:rPr lang="en-US" sz="1400" dirty="0">
                <a:solidFill>
                  <a:schemeClr val="tx1"/>
                </a:solidFill>
              </a:rPr>
              <a:t>Max drawdown vs unhedged</a:t>
            </a:r>
            <a:endParaRPr lang="en-US" sz="1400" dirty="0"/>
          </a:p>
        </p:txBody>
      </p:sp>
      <p:sp>
        <p:nvSpPr>
          <p:cNvPr id="10" name="stat 2.9% vs 7.5%"/>
          <p:cNvSpPr/>
          <p:nvPr/>
        </p:nvSpPr>
        <p:spPr>
          <a:xfrm>
            <a:off x="7818120" y="3794760"/>
            <a:ext cx="3824935" cy="1097280"/>
          </a:xfrm>
          <a:prstGeom prst="roundRect">
            <a:avLst>
              <a:gd name="adj" fmla="val 6667"/>
            </a:avLst>
          </a:prstGeom>
          <a:solidFill>
            <a:schemeClr val="bg2"/>
          </a:solidFill>
          <a:ln/>
        </p:spPr>
      </p:sp>
      <p:sp>
        <p:nvSpPr>
          <p:cNvPr id="11" name="stat value 2.9% vs 7.5%"/>
          <p:cNvSpPr txBox="1"/>
          <p:nvPr/>
        </p:nvSpPr>
        <p:spPr>
          <a:xfrm>
            <a:off x="8046720" y="3959352"/>
            <a:ext cx="3367735" cy="457200"/>
          </a:xfrm>
          <a:prstGeom prst="rect">
            <a:avLst/>
          </a:prstGeom>
          <a:noFill/>
          <a:ln/>
        </p:spPr>
        <p:txBody>
          <a:bodyPr wrap="square" lIns="0" tIns="0" rIns="0" bIns="0" rtlCol="0" anchor="ctr"/>
          <a:lstStyle/>
          <a:p>
            <a:pPr indent="0" marL="0">
              <a:buNone/>
            </a:pPr>
            <a:r>
              <a:rPr lang="en-US" sz="2600" b="1" dirty="0">
                <a:solidFill>
                  <a:schemeClr val="tx2"/>
                </a:solidFill>
              </a:rPr>
              <a:t>2.9% vs 7.5%</a:t>
            </a:r>
            <a:endParaRPr lang="en-US" sz="2600" dirty="0"/>
          </a:p>
        </p:txBody>
      </p:sp>
      <p:sp>
        <p:nvSpPr>
          <p:cNvPr id="12" name="stat label 2.9% vs 7.5%"/>
          <p:cNvSpPr txBox="1"/>
          <p:nvPr/>
        </p:nvSpPr>
        <p:spPr>
          <a:xfrm>
            <a:off x="8046720" y="4453128"/>
            <a:ext cx="3367735" cy="347472"/>
          </a:xfrm>
          <a:prstGeom prst="rect">
            <a:avLst/>
          </a:prstGeom>
          <a:noFill/>
          <a:ln/>
        </p:spPr>
        <p:txBody>
          <a:bodyPr wrap="square" lIns="0" tIns="0" rIns="0" bIns="0" rtlCol="0" anchor="t"/>
          <a:lstStyle/>
          <a:p>
            <a:pPr indent="0" marL="0">
              <a:buNone/>
            </a:pPr>
            <a:r>
              <a:rPr lang="en-US" sz="1400" dirty="0">
                <a:solidFill>
                  <a:schemeClr val="tx1"/>
                </a:solidFill>
              </a:rPr>
              <a:t>Premium a year vs always-on put</a:t>
            </a:r>
            <a:endParaRPr lang="en-US" sz="1400" dirty="0"/>
          </a:p>
        </p:txBody>
      </p:sp>
      <p:sp>
        <p:nvSpPr>
          <p:cNvPr id="13" name="stat 45%"/>
          <p:cNvSpPr/>
          <p:nvPr/>
        </p:nvSpPr>
        <p:spPr>
          <a:xfrm>
            <a:off x="7818120" y="5029200"/>
            <a:ext cx="3824935" cy="1097280"/>
          </a:xfrm>
          <a:prstGeom prst="roundRect">
            <a:avLst>
              <a:gd name="adj" fmla="val 6667"/>
            </a:avLst>
          </a:prstGeom>
          <a:solidFill>
            <a:schemeClr val="bg2"/>
          </a:solidFill>
          <a:ln/>
        </p:spPr>
      </p:sp>
      <p:sp>
        <p:nvSpPr>
          <p:cNvPr id="14" name="stat value 45%"/>
          <p:cNvSpPr txBox="1"/>
          <p:nvPr/>
        </p:nvSpPr>
        <p:spPr>
          <a:xfrm>
            <a:off x="8046720" y="5193792"/>
            <a:ext cx="3367735" cy="457200"/>
          </a:xfrm>
          <a:prstGeom prst="rect">
            <a:avLst/>
          </a:prstGeom>
          <a:noFill/>
          <a:ln/>
        </p:spPr>
        <p:txBody>
          <a:bodyPr wrap="square" lIns="0" tIns="0" rIns="0" bIns="0" rtlCol="0" anchor="ctr"/>
          <a:lstStyle/>
          <a:p>
            <a:pPr indent="0" marL="0">
              <a:buNone/>
            </a:pPr>
            <a:r>
              <a:rPr lang="en-US" sz="2600" b="1" dirty="0">
                <a:solidFill>
                  <a:schemeClr val="tx2"/>
                </a:solidFill>
              </a:rPr>
              <a:t>45%</a:t>
            </a:r>
            <a:endParaRPr lang="en-US" sz="2600" dirty="0"/>
          </a:p>
        </p:txBody>
      </p:sp>
      <p:sp>
        <p:nvSpPr>
          <p:cNvPr id="15" name="stat label 45%"/>
          <p:cNvSpPr txBox="1"/>
          <p:nvPr/>
        </p:nvSpPr>
        <p:spPr>
          <a:xfrm>
            <a:off x="8046720" y="5687568"/>
            <a:ext cx="3367735" cy="347472"/>
          </a:xfrm>
          <a:prstGeom prst="rect">
            <a:avLst/>
          </a:prstGeom>
          <a:noFill/>
          <a:ln/>
        </p:spPr>
        <p:txBody>
          <a:bodyPr wrap="square" lIns="0" tIns="0" rIns="0" bIns="0" rtlCol="0" anchor="t"/>
          <a:lstStyle/>
          <a:p>
            <a:pPr indent="0" marL="0">
              <a:buNone/>
            </a:pPr>
            <a:r>
              <a:rPr lang="en-US" sz="1400" dirty="0">
                <a:solidFill>
                  <a:schemeClr val="tx1"/>
                </a:solidFill>
              </a:rPr>
              <a:t>Share of days holding puts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Always-on hedges cost more than they saved</a:t>
            </a:r>
            <a:endParaRPr lang="en-US" sz="3400" dirty="0"/>
          </a:p>
        </p:txBody>
      </p:sp>
      <p:graphicFrame>
        <p:nvGraphicFramePr>
          <p:cNvPr id="3" name="Annual return, 2020–2026 (%)" descr=""/>
          <p:cNvGraphicFramePr/>
          <p:nvPr/>
        </p:nvGraphicFramePr>
        <p:xfrm>
          <a:off x="548640" y="1325880"/>
          <a:ext cx="5410048"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Maximum drawdown, 2020–2026 (% fall)" descr=""/>
          <p:cNvGraphicFramePr/>
          <p:nvPr/>
        </p:nvGraphicFramePr>
        <p:xfrm>
          <a:off x="6233008" y="1325880"/>
          <a:ext cx="5410048" cy="420624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669280"/>
            <a:ext cx="11094415" cy="594360"/>
          </a:xfrm>
          <a:prstGeom prst="rect">
            <a:avLst/>
          </a:prstGeom>
          <a:noFill/>
          <a:ln/>
        </p:spPr>
        <p:txBody>
          <a:bodyPr wrap="square" lIns="0" tIns="0" rIns="0" bIns="0" rtlCol="0" anchor="t"/>
          <a:lstStyle/>
          <a:p>
            <a:pPr indent="0" marL="0">
              <a:buNone/>
            </a:pPr>
            <a:r>
              <a:rPr lang="en-US" sz="1400" dirty="0">
                <a:solidFill>
                  <a:schemeClr val="tx1"/>
                </a:solidFill>
              </a:rPr>
              <a:t>Net option cost a year: 3.0% to 4.9% for always-on hedges, −4.4% to +0.2% for timed hedges (negative means the options returned more than they cost).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Hedges bought in calm markets paid</a:t>
            </a:r>
            <a:endParaRPr lang="en-US" sz="3400" dirty="0"/>
          </a:p>
        </p:txBody>
      </p:sp>
      <p:graphicFrame>
        <p:nvGraphicFramePr>
          <p:cNvPr id="3" name="cost by regime chart" descr=""/>
          <p:cNvGraphicFramePr/>
          <p:nvPr/>
        </p:nvGraphicFramePr>
        <p:xfrm>
          <a:off x="548640" y="1325880"/>
          <a:ext cx="6949440" cy="48920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818120" y="1325880"/>
            <a:ext cx="3824935" cy="594360"/>
          </a:xfrm>
          <a:prstGeom prst="rect">
            <a:avLst/>
          </a:prstGeom>
          <a:noFill/>
          <a:ln/>
        </p:spPr>
        <p:txBody>
          <a:bodyPr wrap="square" lIns="0" tIns="0" rIns="0" bIns="0" rtlCol="0" anchor="t"/>
          <a:lstStyle/>
          <a:p>
            <a:pPr indent="0" marL="0">
              <a:buNone/>
            </a:pPr>
            <a:r>
              <a:rPr lang="en-US" sz="1600" b="1" dirty="0">
                <a:solidFill>
                  <a:schemeClr val="tx2"/>
                </a:solidFill>
              </a:rPr>
              <a:t>Proposed hedge vs unhedged, by the regime of each day</a:t>
            </a:r>
            <a:endParaRPr lang="en-US" sz="1600" dirty="0"/>
          </a:p>
        </p:txBody>
      </p:sp>
      <p:sp>
        <p:nvSpPr>
          <p:cNvPr id="5" name="stat −2.1% a year"/>
          <p:cNvSpPr/>
          <p:nvPr/>
        </p:nvSpPr>
        <p:spPr>
          <a:xfrm>
            <a:off x="7818120" y="2011680"/>
            <a:ext cx="3824935" cy="960120"/>
          </a:xfrm>
          <a:prstGeom prst="roundRect">
            <a:avLst>
              <a:gd name="adj" fmla="val 7619"/>
            </a:avLst>
          </a:prstGeom>
          <a:solidFill>
            <a:schemeClr val="bg2"/>
          </a:solidFill>
          <a:ln/>
        </p:spPr>
      </p:sp>
      <p:sp>
        <p:nvSpPr>
          <p:cNvPr id="6" name="stat value −2.1% a year"/>
          <p:cNvSpPr txBox="1"/>
          <p:nvPr/>
        </p:nvSpPr>
        <p:spPr>
          <a:xfrm>
            <a:off x="8046720" y="2176272"/>
            <a:ext cx="3367735" cy="384048"/>
          </a:xfrm>
          <a:prstGeom prst="rect">
            <a:avLst/>
          </a:prstGeom>
          <a:noFill/>
          <a:ln/>
        </p:spPr>
        <p:txBody>
          <a:bodyPr wrap="square" lIns="0" tIns="0" rIns="0" bIns="0" rtlCol="0" anchor="ctr"/>
          <a:lstStyle/>
          <a:p>
            <a:pPr indent="0" marL="0">
              <a:buNone/>
            </a:pPr>
            <a:r>
              <a:rPr lang="en-US" sz="2200" b="1" dirty="0">
                <a:solidFill>
                  <a:schemeClr val="accent2"/>
                </a:solidFill>
              </a:rPr>
              <a:t>−2.1% a year</a:t>
            </a:r>
            <a:endParaRPr lang="en-US" sz="2200" dirty="0"/>
          </a:p>
        </p:txBody>
      </p:sp>
      <p:sp>
        <p:nvSpPr>
          <p:cNvPr id="7" name="stat label −2.1% a year"/>
          <p:cNvSpPr txBox="1"/>
          <p:nvPr/>
        </p:nvSpPr>
        <p:spPr>
          <a:xfrm>
            <a:off x="8046720" y="2596896"/>
            <a:ext cx="3367735" cy="283464"/>
          </a:xfrm>
          <a:prstGeom prst="rect">
            <a:avLst/>
          </a:prstGeom>
          <a:noFill/>
          <a:ln/>
        </p:spPr>
        <p:txBody>
          <a:bodyPr wrap="square" lIns="0" tIns="0" rIns="0" bIns="0" rtlCol="0" anchor="t"/>
          <a:lstStyle/>
          <a:p>
            <a:pPr indent="0" marL="0">
              <a:buNone/>
            </a:pPr>
            <a:r>
              <a:rPr lang="en-US" sz="1400" dirty="0">
                <a:solidFill>
                  <a:schemeClr val="tx1"/>
                </a:solidFill>
              </a:rPr>
              <a:t>Low-VIX days: the insurance carry</a:t>
            </a:r>
            <a:endParaRPr lang="en-US" sz="1400" dirty="0"/>
          </a:p>
        </p:txBody>
      </p:sp>
      <p:sp>
        <p:nvSpPr>
          <p:cNvPr id="8" name="stat +2.0% a year"/>
          <p:cNvSpPr/>
          <p:nvPr/>
        </p:nvSpPr>
        <p:spPr>
          <a:xfrm>
            <a:off x="7818120" y="3081528"/>
            <a:ext cx="3824935" cy="960120"/>
          </a:xfrm>
          <a:prstGeom prst="roundRect">
            <a:avLst>
              <a:gd name="adj" fmla="val 7619"/>
            </a:avLst>
          </a:prstGeom>
          <a:solidFill>
            <a:schemeClr val="bg2"/>
          </a:solidFill>
          <a:ln/>
        </p:spPr>
      </p:sp>
      <p:sp>
        <p:nvSpPr>
          <p:cNvPr id="9" name="stat value +2.0% a year"/>
          <p:cNvSpPr txBox="1"/>
          <p:nvPr/>
        </p:nvSpPr>
        <p:spPr>
          <a:xfrm>
            <a:off x="8046720" y="3246120"/>
            <a:ext cx="3367735" cy="384048"/>
          </a:xfrm>
          <a:prstGeom prst="rect">
            <a:avLst/>
          </a:prstGeom>
          <a:noFill/>
          <a:ln/>
        </p:spPr>
        <p:txBody>
          <a:bodyPr wrap="square" lIns="0" tIns="0" rIns="0" bIns="0" rtlCol="0" anchor="ctr"/>
          <a:lstStyle/>
          <a:p>
            <a:pPr indent="0" marL="0">
              <a:buNone/>
            </a:pPr>
            <a:r>
              <a:rPr lang="en-US" sz="2200" b="1" dirty="0">
                <a:solidFill>
                  <a:schemeClr val="tx2"/>
                </a:solidFill>
              </a:rPr>
              <a:t>+2.0% a year</a:t>
            </a:r>
            <a:endParaRPr lang="en-US" sz="2200" dirty="0"/>
          </a:p>
        </p:txBody>
      </p:sp>
      <p:sp>
        <p:nvSpPr>
          <p:cNvPr id="10" name="stat label +2.0% a year"/>
          <p:cNvSpPr txBox="1"/>
          <p:nvPr/>
        </p:nvSpPr>
        <p:spPr>
          <a:xfrm>
            <a:off x="8046720" y="3666744"/>
            <a:ext cx="3367735" cy="283464"/>
          </a:xfrm>
          <a:prstGeom prst="rect">
            <a:avLst/>
          </a:prstGeom>
          <a:noFill/>
          <a:ln/>
        </p:spPr>
        <p:txBody>
          <a:bodyPr wrap="square" lIns="0" tIns="0" rIns="0" bIns="0" rtlCol="0" anchor="t"/>
          <a:lstStyle/>
          <a:p>
            <a:pPr indent="0" marL="0">
              <a:buNone/>
            </a:pPr>
            <a:r>
              <a:rPr lang="en-US" sz="1400" dirty="0">
                <a:solidFill>
                  <a:schemeClr val="tx1"/>
                </a:solidFill>
              </a:rPr>
              <a:t>Normal-VIX days</a:t>
            </a:r>
            <a:endParaRPr lang="en-US" sz="1400" dirty="0"/>
          </a:p>
        </p:txBody>
      </p:sp>
      <p:sp>
        <p:nvSpPr>
          <p:cNvPr id="11" name="stat +6.3% a year"/>
          <p:cNvSpPr/>
          <p:nvPr/>
        </p:nvSpPr>
        <p:spPr>
          <a:xfrm>
            <a:off x="7818120" y="4151376"/>
            <a:ext cx="3824935" cy="960120"/>
          </a:xfrm>
          <a:prstGeom prst="roundRect">
            <a:avLst>
              <a:gd name="adj" fmla="val 7619"/>
            </a:avLst>
          </a:prstGeom>
          <a:solidFill>
            <a:schemeClr val="bg2"/>
          </a:solidFill>
          <a:ln/>
        </p:spPr>
      </p:sp>
      <p:sp>
        <p:nvSpPr>
          <p:cNvPr id="12" name="stat value +6.3% a year"/>
          <p:cNvSpPr txBox="1"/>
          <p:nvPr/>
        </p:nvSpPr>
        <p:spPr>
          <a:xfrm>
            <a:off x="8046720" y="4315968"/>
            <a:ext cx="3367735" cy="384048"/>
          </a:xfrm>
          <a:prstGeom prst="rect">
            <a:avLst/>
          </a:prstGeom>
          <a:noFill/>
          <a:ln/>
        </p:spPr>
        <p:txBody>
          <a:bodyPr wrap="square" lIns="0" tIns="0" rIns="0" bIns="0" rtlCol="0" anchor="ctr"/>
          <a:lstStyle/>
          <a:p>
            <a:pPr indent="0" marL="0">
              <a:buNone/>
            </a:pPr>
            <a:r>
              <a:rPr lang="en-US" sz="2200" b="1" dirty="0">
                <a:solidFill>
                  <a:schemeClr val="accent1"/>
                </a:solidFill>
              </a:rPr>
              <a:t>+6.3% a year</a:t>
            </a:r>
            <a:endParaRPr lang="en-US" sz="2200" dirty="0"/>
          </a:p>
        </p:txBody>
      </p:sp>
      <p:sp>
        <p:nvSpPr>
          <p:cNvPr id="13" name="stat label +6.3% a year"/>
          <p:cNvSpPr txBox="1"/>
          <p:nvPr/>
        </p:nvSpPr>
        <p:spPr>
          <a:xfrm>
            <a:off x="8046720" y="4736592"/>
            <a:ext cx="3367735" cy="283464"/>
          </a:xfrm>
          <a:prstGeom prst="rect">
            <a:avLst/>
          </a:prstGeom>
          <a:noFill/>
          <a:ln/>
        </p:spPr>
        <p:txBody>
          <a:bodyPr wrap="square" lIns="0" tIns="0" rIns="0" bIns="0" rtlCol="0" anchor="t"/>
          <a:lstStyle/>
          <a:p>
            <a:pPr indent="0" marL="0">
              <a:buNone/>
            </a:pPr>
            <a:r>
              <a:rPr lang="en-US" sz="1400" dirty="0">
                <a:solidFill>
                  <a:schemeClr val="tx1"/>
                </a:solidFill>
              </a:rPr>
              <a:t>High-VIX days, when puts pay out</a:t>
            </a:r>
            <a:endParaRPr lang="en-US" sz="1400" dirty="0"/>
          </a:p>
        </p:txBody>
      </p:sp>
      <p:sp>
        <p:nvSpPr>
          <p:cNvPr id="14" name="stat −9.2% a year"/>
          <p:cNvSpPr/>
          <p:nvPr/>
        </p:nvSpPr>
        <p:spPr>
          <a:xfrm>
            <a:off x="7818120" y="5221224"/>
            <a:ext cx="3824935" cy="960120"/>
          </a:xfrm>
          <a:prstGeom prst="roundRect">
            <a:avLst>
              <a:gd name="adj" fmla="val 7619"/>
            </a:avLst>
          </a:prstGeom>
          <a:solidFill>
            <a:schemeClr val="bg2"/>
          </a:solidFill>
          <a:ln/>
        </p:spPr>
      </p:sp>
      <p:sp>
        <p:nvSpPr>
          <p:cNvPr id="15" name="stat value −9.2% a year"/>
          <p:cNvSpPr txBox="1"/>
          <p:nvPr/>
        </p:nvSpPr>
        <p:spPr>
          <a:xfrm>
            <a:off x="8046720" y="5385816"/>
            <a:ext cx="3367735" cy="384048"/>
          </a:xfrm>
          <a:prstGeom prst="rect">
            <a:avLst/>
          </a:prstGeom>
          <a:noFill/>
          <a:ln/>
        </p:spPr>
        <p:txBody>
          <a:bodyPr wrap="square" lIns="0" tIns="0" rIns="0" bIns="0" rtlCol="0" anchor="ctr"/>
          <a:lstStyle/>
          <a:p>
            <a:pPr indent="0" marL="0">
              <a:buNone/>
            </a:pPr>
            <a:r>
              <a:rPr lang="en-US" sz="2200" b="1" dirty="0">
                <a:solidFill>
                  <a:schemeClr val="tx2"/>
                </a:solidFill>
              </a:rPr>
              <a:t>−9.2% a year</a:t>
            </a:r>
            <a:endParaRPr lang="en-US" sz="2200" dirty="0"/>
          </a:p>
        </p:txBody>
      </p:sp>
      <p:sp>
        <p:nvSpPr>
          <p:cNvPr id="16" name="stat label −9.2% a year"/>
          <p:cNvSpPr txBox="1"/>
          <p:nvPr/>
        </p:nvSpPr>
        <p:spPr>
          <a:xfrm>
            <a:off x="8046720" y="5806440"/>
            <a:ext cx="3367735" cy="283464"/>
          </a:xfrm>
          <a:prstGeom prst="rect">
            <a:avLst/>
          </a:prstGeom>
          <a:noFill/>
          <a:ln/>
        </p:spPr>
        <p:txBody>
          <a:bodyPr wrap="square" lIns="0" tIns="0" rIns="0" bIns="0" rtlCol="0" anchor="t"/>
          <a:lstStyle/>
          <a:p>
            <a:pPr indent="0" marL="0">
              <a:buNone/>
            </a:pPr>
            <a:r>
              <a:rPr lang="en-US" sz="1400" dirty="0">
                <a:solidFill>
                  <a:schemeClr val="tx1"/>
                </a:solidFill>
              </a:rPr>
              <a:t>Always-on put on high-VIX days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Protection works from a calm start</a:t>
            </a:r>
            <a:endParaRPr lang="en-US" sz="3400" dirty="0"/>
          </a:p>
        </p:txBody>
      </p:sp>
      <p:graphicFrame>
        <p:nvGraphicFramePr>
          <p:cNvPr id="15" name="episode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142232"/>
                <a:gridCol w="1737360"/>
                <a:gridCol w="1737360"/>
                <a:gridCol w="1737360"/>
                <a:gridCol w="1737360"/>
              </a:tblGrid>
              <a:tr h="475488">
                <a:tc>
                  <a:txBody>
                    <a:bodyPr/>
                    <a:lstStyle/>
                    <a:p>
                      <a:pPr indent="0" marL="0">
                        <a:buNone/>
                      </a:pPr>
                      <a:r>
                        <a:rPr lang="en-US" sz="1400" b="1" dirty="0">
                          <a:solidFill>
                            <a:schemeClr val="bg1"/>
                          </a:solidFill>
                        </a:rPr>
                        <a:t>Episode (portfolio return)</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Unhedged</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Always 1M put</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Always 3M put</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Proposed</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1"/>
                          </a:solidFill>
                        </a:rPr>
                        <a:t>COVID crash, 17 Jan to 23 Mar 2020</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−38.4%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−15.5%</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−12.4%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−21.1%</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War and rate hikes, Jan to Jun 2022</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−16.5%</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−17.1%</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−13.9%</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−16.5%</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Election result, 3 to 4 Jun 2024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−5.9%</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−3.6%</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−3.1%</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−5.2%</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Yen-carry unwind, 1 to 5 Aug 2024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−2.6%</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−1.9%</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−1.9%</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Slow correction, Sep 2024 to Mar 2025</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−15.8%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−16.3%</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−14.7%</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−15.4%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Tariff shock, 28 Mar to 7 Apr 2025</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−4.3%</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−3.4%</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−5.8%</a:t>
                      </a:r>
                      <a:endParaRPr lang="en-US" sz="1400" dirty="0"/>
                    </a:p>
                  </a:txBody>
                  <a:tcPr marL="73152" marR="73152" marT="36576" marB="36576"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bg2"/>
                    </a:solidFill>
                  </a:tcPr>
                </a:tc>
              </a:tr>
            </a:tbl>
          </a:graphicData>
        </a:graphic>
      </p:graphicFrame>
      <p:sp>
        <p:nvSpPr>
          <p:cNvPr id="4" name="works card"/>
          <p:cNvSpPr/>
          <p:nvPr/>
        </p:nvSpPr>
        <p:spPr>
          <a:xfrm>
            <a:off x="548640" y="4892040"/>
            <a:ext cx="5410048" cy="1325880"/>
          </a:xfrm>
          <a:prstGeom prst="roundRect">
            <a:avLst>
              <a:gd name="adj" fmla="val 5517"/>
            </a:avLst>
          </a:prstGeom>
          <a:solidFill>
            <a:srgbClr val="E3EEFB"/>
          </a:solidFill>
          <a:ln/>
        </p:spPr>
      </p:sp>
      <p:sp>
        <p:nvSpPr>
          <p:cNvPr id="5" name="Works: shocks from a calm start"/>
          <p:cNvSpPr txBox="1"/>
          <p:nvPr/>
        </p:nvSpPr>
        <p:spPr>
          <a:xfrm>
            <a:off x="822960" y="5074920"/>
            <a:ext cx="4861408" cy="10515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Works: shocks from a calm start</a:t>
            </a:r>
            <a:endParaRPr lang="en-US" sz="1600" dirty="0"/>
          </a:p>
          <a:p>
            <a:pPr indent="0" marL="0">
              <a:buNone/>
            </a:pPr>
            <a:r>
              <a:rPr lang="en-US" sz="1400" dirty="0">
                <a:solidFill>
                  <a:schemeClr val="tx1"/>
                </a:solidFill>
              </a:rPr>
              <a:t>January 2020 and August 2024 began with VIX near or below 13, so a cheap put was already held</a:t>
            </a:r>
            <a:endParaRPr lang="en-US" sz="1600" dirty="0"/>
          </a:p>
        </p:txBody>
      </p:sp>
      <p:sp>
        <p:nvSpPr>
          <p:cNvPr id="6" name="fails card"/>
          <p:cNvSpPr/>
          <p:nvPr/>
        </p:nvSpPr>
        <p:spPr>
          <a:xfrm>
            <a:off x="6233008" y="4892040"/>
            <a:ext cx="5410048" cy="1325880"/>
          </a:xfrm>
          <a:prstGeom prst="roundRect">
            <a:avLst>
              <a:gd name="adj" fmla="val 5517"/>
            </a:avLst>
          </a:prstGeom>
          <a:solidFill>
            <a:srgbClr val="FCE9DC"/>
          </a:solidFill>
          <a:ln/>
        </p:spPr>
      </p:sp>
      <p:sp>
        <p:nvSpPr>
          <p:cNvPr id="7" name="Fails: slow grinds, or VIX already rising"/>
          <p:cNvSpPr txBox="1"/>
          <p:nvPr/>
        </p:nvSpPr>
        <p:spPr>
          <a:xfrm>
            <a:off x="6507328" y="5074920"/>
            <a:ext cx="4861408" cy="105156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Fails: slow grinds, or VIX already rising</a:t>
            </a:r>
            <a:endParaRPr lang="en-US" sz="1600" dirty="0"/>
          </a:p>
          <a:p>
            <a:pPr indent="0" marL="0">
              <a:buNone/>
            </a:pPr>
            <a:r>
              <a:rPr lang="en-US" sz="1400" dirty="0">
                <a:solidFill>
                  <a:schemeClr val="tx1"/>
                </a:solidFill>
              </a:rPr>
              <a:t>2022, late 2024 and April 2025 started with VIX in the normal band, so no hedge was bought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What the result depends on</a:t>
            </a:r>
            <a:endParaRPr lang="en-US" sz="3400" dirty="0"/>
          </a:p>
        </p:txBody>
      </p:sp>
      <p:pic>
        <p:nvPicPr>
          <p:cNvPr id="3" name="Sensitivity of return and drawdown to entry and monetisation thresholds" descr="Sensitivity of return and drawdown to entry and monetisation thresholds">    </p:cNvPr>
          <p:cNvPicPr>
            <a:picLocks noChangeAspect="1"/>
          </p:cNvPicPr>
          <p:nvPr/>
        </p:nvPicPr>
        <p:blipFill>
          <a:blip r:embed="rId1"/>
          <a:stretch>
            <a:fillRect/>
          </a:stretch>
        </p:blipFill>
        <p:spPr>
          <a:xfrm>
            <a:off x="548640" y="1371600"/>
            <a:ext cx="6766560" cy="2433627"/>
          </a:xfrm>
          <a:prstGeom prst="rect">
            <a:avLst/>
          </a:prstGeom>
        </p:spPr>
      </p:pic>
      <p:sp>
        <p:nvSpPr>
          <p:cNvPr id="4" name="Text 1"/>
          <p:cNvSpPr txBox="1"/>
          <p:nvPr/>
        </p:nvSpPr>
        <p:spPr>
          <a:xfrm>
            <a:off x="548640" y="3977640"/>
            <a:ext cx="6766560" cy="914400"/>
          </a:xfrm>
          <a:prstGeom prst="rect">
            <a:avLst/>
          </a:prstGeom>
          <a:noFill/>
          <a:ln/>
        </p:spPr>
        <p:txBody>
          <a:bodyPr wrap="square" lIns="0" tIns="0" rIns="0" bIns="0" rtlCol="0" anchor="t"/>
          <a:lstStyle/>
          <a:p>
            <a:pPr indent="0" marL="0">
              <a:buNone/>
            </a:pPr>
            <a:r>
              <a:rPr lang="en-US" sz="1400" dirty="0">
                <a:solidFill>
                  <a:schemeClr val="tx1"/>
                </a:solidFill>
              </a:rPr>
              <a:t>Buying only below VIX 12 to 15 beat buying regardless of VIX in every cell: 12.2–15.7% a year against 5.9–8.5%, with drawdowns of about −20% to −22%.</a:t>
            </a:r>
            <a:endParaRPr lang="en-US" sz="1400" dirty="0"/>
          </a:p>
        </p:txBody>
      </p:sp>
      <p:sp>
        <p:nvSpPr>
          <p:cNvPr id="5" name="Text 2"/>
          <p:cNvSpPr txBox="1"/>
          <p:nvPr/>
        </p:nvSpPr>
        <p:spPr>
          <a:xfrm>
            <a:off x="548640" y="4983480"/>
            <a:ext cx="6766560" cy="914400"/>
          </a:xfrm>
          <a:prstGeom prst="rect">
            <a:avLst/>
          </a:prstGeom>
          <a:noFill/>
          <a:ln/>
        </p:spPr>
        <p:txBody>
          <a:bodyPr wrap="square" lIns="0" tIns="0" rIns="0" bIns="0" rtlCol="0" anchor="t"/>
          <a:lstStyle/>
          <a:p>
            <a:pPr indent="0" marL="0">
              <a:buNone/>
            </a:pPr>
            <a:r>
              <a:rPr lang="en-US" sz="1400" dirty="0">
                <a:solidFill>
                  <a:schemeClr val="tx1"/>
                </a:solidFill>
              </a:rPr>
              <a:t>Pricing check: with skew of 0 to 1 vol pt per 1% and half-spreads of 0 to 1 pt, the proposal returned 12.9–15.1% vs 6.0–11.1% for the always-on put.</a:t>
            </a:r>
            <a:endParaRPr lang="en-US" sz="1400" dirty="0"/>
          </a:p>
        </p:txBody>
      </p:sp>
      <p:sp>
        <p:nvSpPr>
          <p:cNvPr id="6" name="Robust: buy only in low VIX"/>
          <p:cNvSpPr/>
          <p:nvPr/>
        </p:nvSpPr>
        <p:spPr>
          <a:xfrm>
            <a:off x="7635240" y="1371600"/>
            <a:ext cx="4007815" cy="1508760"/>
          </a:xfrm>
          <a:prstGeom prst="roundRect">
            <a:avLst>
              <a:gd name="adj" fmla="val 4848"/>
            </a:avLst>
          </a:prstGeom>
          <a:solidFill>
            <a:srgbClr val="E3EEFB"/>
          </a:solidFill>
          <a:ln/>
        </p:spPr>
      </p:sp>
      <p:sp>
        <p:nvSpPr>
          <p:cNvPr id="7" name="Robust: buy only in low VIX"/>
          <p:cNvSpPr txBox="1"/>
          <p:nvPr/>
        </p:nvSpPr>
        <p:spPr>
          <a:xfrm>
            <a:off x="7863840" y="1536192"/>
            <a:ext cx="3550615" cy="12344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Robust: buy only in low VIX</a:t>
            </a:r>
            <a:endParaRPr lang="en-US" sz="1600" dirty="0"/>
          </a:p>
          <a:p>
            <a:pPr indent="0" marL="0">
              <a:buNone/>
            </a:pPr>
            <a:r>
              <a:rPr lang="en-US" sz="1400" dirty="0">
                <a:solidFill>
                  <a:schemeClr val="tx1"/>
                </a:solidFill>
              </a:rPr>
              <a:t>Holds across thresholds, skew and bid/ask assumptions</a:t>
            </a:r>
            <a:endParaRPr lang="en-US" sz="1600" dirty="0"/>
          </a:p>
        </p:txBody>
      </p:sp>
      <p:sp>
        <p:nvSpPr>
          <p:cNvPr id="8" name="Fragile: tenor"/>
          <p:cNvSpPr/>
          <p:nvPr/>
        </p:nvSpPr>
        <p:spPr>
          <a:xfrm>
            <a:off x="7635240" y="3063240"/>
            <a:ext cx="4007815" cy="1508760"/>
          </a:xfrm>
          <a:prstGeom prst="roundRect">
            <a:avLst>
              <a:gd name="adj" fmla="val 4848"/>
            </a:avLst>
          </a:prstGeom>
          <a:solidFill>
            <a:srgbClr val="FCE9DC"/>
          </a:solidFill>
          <a:ln/>
        </p:spPr>
      </p:sp>
      <p:sp>
        <p:nvSpPr>
          <p:cNvPr id="9" name="Fragile: tenor"/>
          <p:cNvSpPr txBox="1"/>
          <p:nvPr/>
        </p:nvSpPr>
        <p:spPr>
          <a:xfrm>
            <a:off x="7863840" y="3227832"/>
            <a:ext cx="3550615" cy="12344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Fragile: tenor</a:t>
            </a:r>
            <a:endParaRPr lang="en-US" sz="1600" dirty="0"/>
          </a:p>
          <a:p>
            <a:pPr indent="0" marL="0">
              <a:buNone/>
            </a:pPr>
            <a:r>
              <a:rPr lang="en-US" sz="1400" dirty="0">
                <a:solidFill>
                  <a:schemeClr val="tx1"/>
                </a:solidFill>
              </a:rPr>
              <a:t>1 to 2-month puts expired before the March 2020 crash: about 10.5% a year with −36% drawdown</a:t>
            </a:r>
            <a:endParaRPr lang="en-US" sz="1600" dirty="0"/>
          </a:p>
        </p:txBody>
      </p:sp>
      <p:sp>
        <p:nvSpPr>
          <p:cNvPr id="10" name="Fragile: one crash"/>
          <p:cNvSpPr/>
          <p:nvPr/>
        </p:nvSpPr>
        <p:spPr>
          <a:xfrm>
            <a:off x="7635240" y="4754880"/>
            <a:ext cx="4007815" cy="1508760"/>
          </a:xfrm>
          <a:prstGeom prst="roundRect">
            <a:avLst>
              <a:gd name="adj" fmla="val 4848"/>
            </a:avLst>
          </a:prstGeom>
          <a:solidFill>
            <a:srgbClr val="FCE9DC"/>
          </a:solidFill>
          <a:ln/>
        </p:spPr>
      </p:sp>
      <p:sp>
        <p:nvSpPr>
          <p:cNvPr id="11" name="Fragile: one crash"/>
          <p:cNvSpPr txBox="1"/>
          <p:nvPr/>
        </p:nvSpPr>
        <p:spPr>
          <a:xfrm>
            <a:off x="7863840" y="4919472"/>
            <a:ext cx="3550615" cy="12344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Fragile: one crash</a:t>
            </a:r>
            <a:endParaRPr lang="en-US" sz="1600" dirty="0"/>
          </a:p>
          <a:p>
            <a:pPr indent="0" marL="0">
              <a:buNone/>
            </a:pPr>
            <a:r>
              <a:rPr lang="en-US" sz="1400" dirty="0">
                <a:solidFill>
                  <a:schemeClr val="tx1"/>
                </a:solidFill>
              </a:rPr>
              <a:t>Jul 2020 to Apr 2026: 14.9% vs 15.4% unhedged, same −17.2% drawdown. Cost about 0.5% a year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4415" cy="914400"/>
          </a:xfrm>
          <a:prstGeom prst="rect">
            <a:avLst/>
          </a:prstGeom>
          <a:noFill/>
          <a:ln/>
        </p:spPr>
        <p:txBody>
          <a:bodyPr wrap="square" rtlCol="0" anchor="ctr"/>
          <a:lstStyle/>
          <a:p>
            <a:pPr algn="l" indent="0" marL="0">
              <a:buNone/>
            </a:pPr>
            <a:r>
              <a:rPr lang="en-US" sz="3400" b="1" dirty="0">
                <a:solidFill>
                  <a:schemeClr val="tx2"/>
                </a:solidFill>
              </a:rPr>
              <a:t>Limitations</a:t>
            </a:r>
            <a:endParaRPr lang="en-US" sz="3400" dirty="0"/>
          </a:p>
        </p:txBody>
      </p:sp>
      <p:sp>
        <p:nvSpPr>
          <p:cNvPr id="3" name="Modelled premiums"/>
          <p:cNvSpPr/>
          <p:nvPr/>
        </p:nvSpPr>
        <p:spPr>
          <a:xfrm>
            <a:off x="548640" y="1371600"/>
            <a:ext cx="5410048" cy="2240280"/>
          </a:xfrm>
          <a:prstGeom prst="roundRect">
            <a:avLst>
              <a:gd name="adj" fmla="val 3265"/>
            </a:avLst>
          </a:prstGeom>
          <a:solidFill>
            <a:schemeClr val="bg2"/>
          </a:solidFill>
          <a:ln/>
        </p:spPr>
      </p:sp>
      <p:sp>
        <p:nvSpPr>
          <p:cNvPr id="4" name="marker 1"/>
          <p:cNvSpPr/>
          <p:nvPr/>
        </p:nvSpPr>
        <p:spPr>
          <a:xfrm>
            <a:off x="822960" y="1645920"/>
            <a:ext cx="502920" cy="502920"/>
          </a:xfrm>
          <a:prstGeom prst="ellipse">
            <a:avLst/>
          </a:prstGeom>
          <a:solidFill>
            <a:schemeClr val="tx2"/>
          </a:solidFill>
          <a:ln/>
        </p:spPr>
      </p:sp>
      <p:sp>
        <p:nvSpPr>
          <p:cNvPr id="5" name="Text 3"/>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Modelled premiums"/>
          <p:cNvSpPr txBox="1"/>
          <p:nvPr/>
        </p:nvSpPr>
        <p:spPr>
          <a:xfrm>
            <a:off x="1554480" y="1645920"/>
            <a:ext cx="4129888" cy="17830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Modelled premiums</a:t>
            </a:r>
            <a:endParaRPr lang="en-US" sz="1800" dirty="0"/>
          </a:p>
          <a:p>
            <a:pPr indent="0" marL="0">
              <a:buNone/>
            </a:pPr>
            <a:r>
              <a:rPr lang="en-US" sz="1400" dirty="0">
                <a:solidFill>
                  <a:schemeClr val="tx1"/>
                </a:solidFill>
              </a:rPr>
              <a:t>Priced from India VIX, not traded quotes. Real 3-month puts in calm markets probably cost more, because the term structure slopes up and skew is steeper.</a:t>
            </a:r>
            <a:endParaRPr lang="en-US" sz="1800" dirty="0"/>
          </a:p>
        </p:txBody>
      </p:sp>
      <p:sp>
        <p:nvSpPr>
          <p:cNvPr id="7" name="Short history"/>
          <p:cNvSpPr/>
          <p:nvPr/>
        </p:nvSpPr>
        <p:spPr>
          <a:xfrm>
            <a:off x="6233008" y="1371600"/>
            <a:ext cx="5410048" cy="2240280"/>
          </a:xfrm>
          <a:prstGeom prst="roundRect">
            <a:avLst>
              <a:gd name="adj" fmla="val 3265"/>
            </a:avLst>
          </a:prstGeom>
          <a:solidFill>
            <a:schemeClr val="bg2"/>
          </a:solidFill>
          <a:ln/>
        </p:spPr>
      </p:sp>
      <p:sp>
        <p:nvSpPr>
          <p:cNvPr id="8" name="marker 2"/>
          <p:cNvSpPr/>
          <p:nvPr/>
        </p:nvSpPr>
        <p:spPr>
          <a:xfrm>
            <a:off x="6507328" y="1645920"/>
            <a:ext cx="502920" cy="502920"/>
          </a:xfrm>
          <a:prstGeom prst="ellipse">
            <a:avLst/>
          </a:prstGeom>
          <a:solidFill>
            <a:schemeClr val="tx2"/>
          </a:solidFill>
          <a:ln/>
        </p:spPr>
      </p:sp>
      <p:sp>
        <p:nvSpPr>
          <p:cNvPr id="9" name="Text 7"/>
          <p:cNvSpPr txBox="1"/>
          <p:nvPr/>
        </p:nvSpPr>
        <p:spPr>
          <a:xfrm>
            <a:off x="6507328"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Short history"/>
          <p:cNvSpPr txBox="1"/>
          <p:nvPr/>
        </p:nvSpPr>
        <p:spPr>
          <a:xfrm>
            <a:off x="7238848" y="1645920"/>
            <a:ext cx="4129888" cy="17830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Short history</a:t>
            </a:r>
            <a:endParaRPr lang="en-US" sz="1800" dirty="0"/>
          </a:p>
          <a:p>
            <a:pPr indent="0" marL="0">
              <a:buNone/>
            </a:pPr>
            <a:r>
              <a:rPr lang="en-US" sz="1400" dirty="0">
                <a:solidFill>
                  <a:schemeClr val="tx1"/>
                </a:solidFill>
              </a:rPr>
              <a:t>India VIX data here starts in 2020: one true crash, and thresholds set on the same data they are tested on.</a:t>
            </a:r>
            <a:endParaRPr lang="en-US" sz="1800" dirty="0"/>
          </a:p>
        </p:txBody>
      </p:sp>
      <p:sp>
        <p:nvSpPr>
          <p:cNvPr id="11" name="Synthetic expiries"/>
          <p:cNvSpPr/>
          <p:nvPr/>
        </p:nvSpPr>
        <p:spPr>
          <a:xfrm>
            <a:off x="548640" y="3886200"/>
            <a:ext cx="5410048" cy="2240280"/>
          </a:xfrm>
          <a:prstGeom prst="roundRect">
            <a:avLst>
              <a:gd name="adj" fmla="val 3265"/>
            </a:avLst>
          </a:prstGeom>
          <a:solidFill>
            <a:schemeClr val="bg2"/>
          </a:solidFill>
          <a:ln/>
        </p:spPr>
      </p:sp>
      <p:sp>
        <p:nvSpPr>
          <p:cNvPr id="12" name="marker 3"/>
          <p:cNvSpPr/>
          <p:nvPr/>
        </p:nvSpPr>
        <p:spPr>
          <a:xfrm>
            <a:off x="822960" y="4160520"/>
            <a:ext cx="502920" cy="502920"/>
          </a:xfrm>
          <a:prstGeom prst="ellipse">
            <a:avLst/>
          </a:prstGeom>
          <a:solidFill>
            <a:schemeClr val="tx2"/>
          </a:solidFill>
          <a:ln/>
        </p:spPr>
      </p:sp>
      <p:sp>
        <p:nvSpPr>
          <p:cNvPr id="13" name="Text 11"/>
          <p:cNvSpPr txBox="1"/>
          <p:nvPr/>
        </p:nvSpPr>
        <p:spPr>
          <a:xfrm>
            <a:off x="822960" y="4160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Synthetic expiries"/>
          <p:cNvSpPr txBox="1"/>
          <p:nvPr/>
        </p:nvSpPr>
        <p:spPr>
          <a:xfrm>
            <a:off x="1554480" y="4160520"/>
            <a:ext cx="4129888" cy="17830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Synthetic expiries</a:t>
            </a:r>
            <a:endParaRPr lang="en-US" sz="1800" dirty="0"/>
          </a:p>
          <a:p>
            <a:pPr indent="0" marL="0">
              <a:buNone/>
            </a:pPr>
            <a:r>
              <a:rPr lang="en-US" sz="1400" dirty="0">
                <a:solidFill>
                  <a:schemeClr val="tx1"/>
                </a:solidFill>
              </a:rPr>
              <a:t>Options expire on the first trading day of each month, not on NSE expiry days. The results show timing can matter a lot.</a:t>
            </a:r>
            <a:endParaRPr lang="en-US" sz="1800" dirty="0"/>
          </a:p>
        </p:txBody>
      </p:sp>
      <p:sp>
        <p:nvSpPr>
          <p:cNvPr id="15" name="Costs left out"/>
          <p:cNvSpPr/>
          <p:nvPr/>
        </p:nvSpPr>
        <p:spPr>
          <a:xfrm>
            <a:off x="6233008" y="3886200"/>
            <a:ext cx="5410048" cy="2240280"/>
          </a:xfrm>
          <a:prstGeom prst="roundRect">
            <a:avLst>
              <a:gd name="adj" fmla="val 3265"/>
            </a:avLst>
          </a:prstGeom>
          <a:solidFill>
            <a:schemeClr val="bg2"/>
          </a:solidFill>
          <a:ln/>
        </p:spPr>
      </p:sp>
      <p:sp>
        <p:nvSpPr>
          <p:cNvPr id="16" name="marker 4"/>
          <p:cNvSpPr/>
          <p:nvPr/>
        </p:nvSpPr>
        <p:spPr>
          <a:xfrm>
            <a:off x="6507328" y="4160520"/>
            <a:ext cx="502920" cy="502920"/>
          </a:xfrm>
          <a:prstGeom prst="ellipse">
            <a:avLst/>
          </a:prstGeom>
          <a:solidFill>
            <a:schemeClr val="tx2"/>
          </a:solidFill>
          <a:ln/>
        </p:spPr>
      </p:sp>
      <p:sp>
        <p:nvSpPr>
          <p:cNvPr id="17" name="Text 15"/>
          <p:cNvSpPr txBox="1"/>
          <p:nvPr/>
        </p:nvSpPr>
        <p:spPr>
          <a:xfrm>
            <a:off x="6507328" y="4160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Costs left out"/>
          <p:cNvSpPr txBox="1"/>
          <p:nvPr/>
        </p:nvSpPr>
        <p:spPr>
          <a:xfrm>
            <a:off x="7238848" y="4160520"/>
            <a:ext cx="4129888" cy="17830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Costs left out</a:t>
            </a:r>
            <a:endParaRPr lang="en-US" sz="1800" dirty="0"/>
          </a:p>
          <a:p>
            <a:pPr indent="0" marL="0">
              <a:buNone/>
            </a:pPr>
            <a:r>
              <a:rPr lang="en-US" sz="1400" dirty="0">
                <a:solidFill>
                  <a:schemeClr val="tx1"/>
                </a:solidFill>
              </a:rPr>
              <a:t>No dividends, taxes, STT, brokerage or margin. All trades at the daily close.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1097280"/>
          </a:xfrm>
          <a:prstGeom prst="rect">
            <a:avLst/>
          </a:prstGeom>
          <a:noFill/>
          <a:ln/>
        </p:spPr>
        <p:txBody>
          <a:bodyPr wrap="square" rtlCol="0" anchor="ctr"/>
          <a:lstStyle/>
          <a:p>
            <a:pPr algn="l" indent="0" marL="0">
              <a:buNone/>
            </a:pPr>
            <a:r>
              <a:rPr lang="en-US" sz="3800" b="1" dirty="0">
                <a:solidFill>
                  <a:schemeClr val="bg1"/>
                </a:solidFill>
              </a:rPr>
              <a:t>Buy protection cheap, sell it into fear</a:t>
            </a:r>
            <a:endParaRPr lang="en-US" sz="3800" dirty="0"/>
          </a:p>
        </p:txBody>
      </p:sp>
      <p:sp>
        <p:nvSpPr>
          <p:cNvPr id="3" name="conclusions"/>
          <p:cNvSpPr txBox="1"/>
          <p:nvPr/>
        </p:nvSpPr>
        <p:spPr>
          <a:xfrm>
            <a:off x="548640" y="1737360"/>
            <a:ext cx="6949440" cy="438912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bg1"/>
                </a:solidFill>
              </a:rPr>
              <a:t>Nifty option buyers pay about 2 vol points of risk premium, and about 4 points just after shocks</a:t>
            </a:r>
            <a:endParaRPr lang="en-US" sz="2000" dirty="0"/>
          </a:p>
          <a:p>
            <a:pPr marL="342900" indent="-342900">
              <a:spcAft>
                <a:spcPts val="800"/>
              </a:spcAft>
              <a:buSzPct val="100000"/>
              <a:buChar char="•"/>
            </a:pPr>
            <a:r>
              <a:rPr lang="en-US" sz="2000" dirty="0">
                <a:solidFill>
                  <a:schemeClr val="bg1"/>
                </a:solidFill>
              </a:rPr>
              <a:t>India VIX is a good real-time gauge of fear and of option prices, not of market direction</a:t>
            </a:r>
            <a:endParaRPr lang="en-US" sz="2000" dirty="0"/>
          </a:p>
          <a:p>
            <a:pPr marL="342900" indent="-342900">
              <a:spcAft>
                <a:spcPts val="800"/>
              </a:spcAft>
              <a:buSzPct val="100000"/>
              <a:buChar char="•"/>
            </a:pPr>
            <a:r>
              <a:rPr lang="en-US" sz="2000" dirty="0">
                <a:solidFill>
                  <a:schemeClr val="bg1"/>
                </a:solidFill>
              </a:rPr>
              <a:t>Event premiums build for weeks and collapse within a day, as on 4 June 2024</a:t>
            </a:r>
            <a:endParaRPr lang="en-US" sz="2000" dirty="0"/>
          </a:p>
          <a:p>
            <a:pPr marL="342900" indent="-342900">
              <a:spcAft>
                <a:spcPts val="800"/>
              </a:spcAft>
              <a:buSzPct val="100000"/>
              <a:buChar char="•"/>
            </a:pPr>
            <a:r>
              <a:rPr lang="en-US" sz="2000" dirty="0">
                <a:solidFill>
                  <a:schemeClr val="bg1"/>
                </a:solidFill>
              </a:rPr>
              <a:t>A VIX-timed 3-month put costs about 0.5% a year in calm periods and cut the 2020–26 drawdown from 38% to 22%</a:t>
            </a:r>
            <a:endParaRPr lang="en-US" sz="2000" dirty="0"/>
          </a:p>
        </p:txBody>
      </p:sp>
      <p:sp>
        <p:nvSpPr>
          <p:cNvPr id="4" name="recommendation card"/>
          <p:cNvSpPr/>
          <p:nvPr/>
        </p:nvSpPr>
        <p:spPr>
          <a:xfrm>
            <a:off x="7863840" y="1737360"/>
            <a:ext cx="3779215" cy="3566160"/>
          </a:xfrm>
          <a:prstGeom prst="roundRect">
            <a:avLst>
              <a:gd name="adj" fmla="val 2051"/>
            </a:avLst>
          </a:prstGeom>
          <a:solidFill>
            <a:schemeClr val="accent1"/>
          </a:solidFill>
          <a:ln/>
        </p:spPr>
      </p:sp>
      <p:sp>
        <p:nvSpPr>
          <p:cNvPr id="5" name="Text 3"/>
          <p:cNvSpPr txBox="1"/>
          <p:nvPr/>
        </p:nvSpPr>
        <p:spPr>
          <a:xfrm>
            <a:off x="8183880" y="2057400"/>
            <a:ext cx="3139135" cy="2926080"/>
          </a:xfrm>
          <a:prstGeom prst="rect">
            <a:avLst/>
          </a:prstGeom>
          <a:noFill/>
          <a:ln/>
        </p:spPr>
        <p:txBody>
          <a:bodyPr wrap="square" lIns="0" tIns="0" rIns="0" bIns="0" rtlCol="0" anchor="t"/>
          <a:lstStyle/>
          <a:p>
            <a:pPr indent="0" marL="0">
              <a:spcAft>
                <a:spcPts val="1000"/>
              </a:spcAft>
              <a:buNone/>
            </a:pPr>
            <a:r>
              <a:rPr lang="en-US" sz="2200" b="1" dirty="0">
                <a:solidFill>
                  <a:schemeClr val="bg1"/>
                </a:solidFill>
              </a:rPr>
              <a:t>Recommendation</a:t>
            </a:r>
            <a:endParaRPr lang="en-US" sz="2200" dirty="0"/>
          </a:p>
          <a:p>
            <a:pPr indent="0" marL="0">
              <a:buNone/>
            </a:pPr>
            <a:r>
              <a:rPr lang="en-US" sz="1800" dirty="0">
                <a:solidFill>
                  <a:schemeClr val="bg1"/>
                </a:solidFill>
              </a:rPr>
              <a:t>Treat the VIX-timed put as cheap crash insurance that pays rarely, not as a source of return. Use 3-month tenors and sell half into the first spike.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Fear Index">
  <a:themeElements>
    <a:clrScheme name="Fear Index">
      <a:dk1>
        <a:srgbClr val="0F1B2D"/>
      </a:dk1>
      <a:lt1>
        <a:srgbClr val="FFFFFF"/>
      </a:lt1>
      <a:dk2>
        <a:srgbClr val="1B2A41"/>
      </a:dk2>
      <a:lt2>
        <a:srgbClr val="EEF2F7"/>
      </a:lt2>
      <a:accent1>
        <a:srgbClr val="E8772E"/>
      </a:accent1>
      <a:accent2>
        <a:srgbClr val="2A78D6"/>
      </a:accent2>
      <a:accent3>
        <a:srgbClr val="8A94A6"/>
      </a:accent3>
      <a:accent4>
        <a:srgbClr val="EDA100"/>
      </a:accent4>
      <a:accent5>
        <a:srgbClr val="E87BA4"/>
      </a:accent5>
      <a:accent6>
        <a:srgbClr val="1BAF7A"/>
      </a:accent6>
      <a:hlink>
        <a:srgbClr val="2A78D6"/>
      </a:hlink>
      <a:folHlink>
        <a:srgbClr val="4A3AA7"/>
      </a:folHlink>
    </a:clrScheme>
    <a:fontScheme name="Fear Inde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Nifty Options, India VIX and a VIX-Timed Hedge</dc:title>
  <dc:subject>FDRM course project: volatility dynamics and the fear index</dc:subject>
  <dc:creator>Group 8, IIT Jodhpur</dc:creator>
  <cp:lastModifiedBy>Group 8</cp:lastModifiedBy>
  <cp:revision>1</cp:revision>
  <dcterms:created xsi:type="dcterms:W3CDTF">2026-10-06T01:23:29Z</dcterms:created>
  <dcterms:modified xsi:type="dcterms:W3CDTF">2026-10-06T01:23:29Z</dcterms:modified>
</cp:coreProperties>
</file>